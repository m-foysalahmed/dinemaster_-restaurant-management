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72" r:id="rId6"/>
    <p:sldId id="265" r:id="rId7"/>
    <p:sldId id="283" r:id="rId8"/>
    <p:sldId id="277" r:id="rId9"/>
    <p:sldId id="287" r:id="rId10"/>
    <p:sldId id="288" r:id="rId11"/>
    <p:sldId id="289" r:id="rId12"/>
    <p:sldId id="291" r:id="rId13"/>
    <p:sldId id="292" r:id="rId14"/>
    <p:sldId id="293" r:id="rId15"/>
    <p:sldId id="290" r:id="rId16"/>
    <p:sldId id="278" r:id="rId17"/>
    <p:sldId id="279" r:id="rId18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Oswald Bold" panose="020B0604020202020204" charset="0"/>
      <p:regular r:id="rId24"/>
    </p:embeddedFont>
    <p:embeddedFont>
      <p:font typeface="DM Sans" panose="020B0604020202020204" charset="0"/>
      <p:regular r:id="rId25"/>
      <p:bold r:id="rId26"/>
      <p:italic r:id="rId27"/>
      <p:boldItalic r:id="rId28"/>
    </p:embeddedFont>
    <p:embeddedFont>
      <p:font typeface="Montserrat" panose="020B060402020202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196" autoAdjust="0"/>
  </p:normalViewPr>
  <p:slideViewPr>
    <p:cSldViewPr>
      <p:cViewPr varScale="1">
        <p:scale>
          <a:sx n="56" d="100"/>
          <a:sy n="56" d="100"/>
        </p:scale>
        <p:origin x="61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8943E-F293-4BC1-AEF0-A490DD9B10E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DA053-425F-44DB-AAF5-D691BFEB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5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55F06-4B75-4EC4-A6C2-EB94BB7B8A75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0C6E3-DEF6-4429-96EE-4622BEC9C493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525AB-8C57-4BCE-9BDD-669C75551E38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8EB77-099B-4E64-97DC-CA59F29047C1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619C-9817-4191-A99E-DA7B9BA6AFC1}" type="datetime1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1DCD-0E84-4D11-A374-17E98AF3594D}" type="datetime1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50AC-6436-4365-9BE4-ED91EA258890}" type="datetime1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F23-C495-4553-95B9-EF69031E3CF7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7E19-7388-4AFF-9546-419B66A12B8E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FDE8D-9642-4A3B-B164-1FEAD8E78CA6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C850-36B2-4E84-86E0-36EFA06F4C6C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Industrila Trainning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B8819-1B8C-49AF-A69D-2021C6574522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Industrila Trainning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5.svg"/><Relationship Id="rId12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3.png"/><Relationship Id="rId5" Type="http://schemas.openxmlformats.org/officeDocument/2006/relationships/image" Target="../media/image13.sv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3.sv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7.pn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3.sv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3.sv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326633" y="1421710"/>
            <a:ext cx="6484878" cy="768419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A4F5F91F-EDF2-CF05-9C31-273FB0CB1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310" y="476682"/>
            <a:ext cx="3324935" cy="1026193"/>
          </a:xfrm>
          <a:prstGeom prst="rect">
            <a:avLst/>
          </a:prstGeom>
        </p:spPr>
      </p:pic>
      <p:pic>
        <p:nvPicPr>
          <p:cNvPr id="14" name="Picture 13" descr="Logo&#10;&#10;Description automatically generated with medium confidence">
            <a:extLst>
              <a:ext uri="{FF2B5EF4-FFF2-40B4-BE49-F238E27FC236}">
                <a16:creationId xmlns:a16="http://schemas.microsoft.com/office/drawing/2014/main" id="{7FD65087-431E-E2BE-8007-B3697C908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0582" y="476682"/>
            <a:ext cx="1225956" cy="1225956"/>
          </a:xfrm>
          <a:prstGeom prst="rect">
            <a:avLst/>
          </a:prstGeom>
        </p:spPr>
      </p:pic>
      <p:sp>
        <p:nvSpPr>
          <p:cNvPr id="17" name="TextBox 5">
            <a:extLst>
              <a:ext uri="{FF2B5EF4-FFF2-40B4-BE49-F238E27FC236}">
                <a16:creationId xmlns:a16="http://schemas.microsoft.com/office/drawing/2014/main" id="{C7921507-43CD-38F7-8B79-705039C70896}"/>
              </a:ext>
            </a:extLst>
          </p:cNvPr>
          <p:cNvSpPr txBox="1"/>
          <p:nvPr/>
        </p:nvSpPr>
        <p:spPr>
          <a:xfrm>
            <a:off x="3782163" y="1659404"/>
            <a:ext cx="1066271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TRAINNING</a:t>
            </a:r>
          </a:p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4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8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NextTech</a:t>
            </a:r>
            <a:r>
              <a:rPr lang="en-US" sz="4800" dirty="0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</a:t>
            </a:r>
            <a:endParaRPr lang="en-US" sz="4800" dirty="0">
              <a:solidFill>
                <a:srgbClr val="3036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88A636CC-F942-A561-9FAE-55C17D2B9C82}"/>
              </a:ext>
            </a:extLst>
          </p:cNvPr>
          <p:cNvSpPr txBox="1"/>
          <p:nvPr/>
        </p:nvSpPr>
        <p:spPr>
          <a:xfrm>
            <a:off x="4218038" y="6938264"/>
            <a:ext cx="450730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Supervisor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26C6203A-155D-61C3-83D2-4932D2C6910F}"/>
              </a:ext>
            </a:extLst>
          </p:cNvPr>
          <p:cNvSpPr txBox="1"/>
          <p:nvPr/>
        </p:nvSpPr>
        <p:spPr>
          <a:xfrm>
            <a:off x="4581511" y="7605841"/>
            <a:ext cx="428286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Dr . </a:t>
            </a:r>
            <a:r>
              <a:rPr lang="en-US" sz="2000" dirty="0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Ahsan Habib </a:t>
            </a:r>
            <a:r>
              <a:rPr lang="en-US" sz="2000" dirty="0" err="1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Tareq</a:t>
            </a:r>
            <a:endParaRPr lang="en-US" sz="2000" dirty="0">
              <a:solidFill>
                <a:srgbClr val="3036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Dept. of CSE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University of Bangladesh</a:t>
            </a: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8B1F37F8-4C71-42C9-0A22-81E1FB34D6DD}"/>
              </a:ext>
            </a:extLst>
          </p:cNvPr>
          <p:cNvSpPr txBox="1"/>
          <p:nvPr/>
        </p:nvSpPr>
        <p:spPr>
          <a:xfrm>
            <a:off x="10714975" y="6938263"/>
            <a:ext cx="393863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Supervisor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147D606B-4536-98CB-6A83-97BAF50FC782}"/>
              </a:ext>
            </a:extLst>
          </p:cNvPr>
          <p:cNvSpPr txBox="1"/>
          <p:nvPr/>
        </p:nvSpPr>
        <p:spPr>
          <a:xfrm>
            <a:off x="10908034" y="7613461"/>
            <a:ext cx="428286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 err="1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</a:t>
            </a:r>
            <a:r>
              <a:rPr lang="en-US" sz="2000" dirty="0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Anis</a:t>
            </a:r>
            <a:r>
              <a:rPr lang="en-US" sz="2000" dirty="0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Mojumder</a:t>
            </a:r>
            <a:endParaRPr lang="en-US" sz="2000" dirty="0">
              <a:solidFill>
                <a:srgbClr val="3036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Developer,</a:t>
            </a:r>
            <a:endParaRPr lang="en-US" sz="2000" dirty="0">
              <a:solidFill>
                <a:srgbClr val="3036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000" dirty="0" err="1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NextTech</a:t>
            </a:r>
            <a:r>
              <a:rPr lang="en-US" sz="2000" dirty="0" smtClean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Limited.</a:t>
            </a:r>
            <a:endParaRPr lang="en-US" sz="2000" dirty="0">
              <a:solidFill>
                <a:srgbClr val="3036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939E3BD-0647-012C-BC09-AC9F7D48E7F6}"/>
              </a:ext>
            </a:extLst>
          </p:cNvPr>
          <p:cNvGrpSpPr/>
          <p:nvPr/>
        </p:nvGrpSpPr>
        <p:grpSpPr>
          <a:xfrm>
            <a:off x="6943506" y="4757821"/>
            <a:ext cx="4507307" cy="1375099"/>
            <a:chOff x="6686119" y="5421747"/>
            <a:chExt cx="4507307" cy="1375099"/>
          </a:xfrm>
        </p:grpSpPr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259A7534-70C3-F8C9-4061-38C15C9A737F}"/>
                </a:ext>
              </a:extLst>
            </p:cNvPr>
            <p:cNvSpPr txBox="1"/>
            <p:nvPr/>
          </p:nvSpPr>
          <p:spPr>
            <a:xfrm>
              <a:off x="7604804" y="5421747"/>
              <a:ext cx="2669935" cy="4924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3200" dirty="0">
                  <a:solidFill>
                    <a:srgbClr val="303642"/>
                  </a:solidFill>
                  <a:latin typeface="DM Sans" pitchFamily="2" charset="0"/>
                </a:rPr>
                <a:t>Presented by:</a:t>
              </a: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F52BA88-020A-9735-E51B-56E3F3B9FD59}"/>
                </a:ext>
              </a:extLst>
            </p:cNvPr>
            <p:cNvSpPr txBox="1"/>
            <p:nvPr/>
          </p:nvSpPr>
          <p:spPr>
            <a:xfrm>
              <a:off x="6686119" y="6001757"/>
              <a:ext cx="4507307" cy="7950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07"/>
                </a:lnSpc>
                <a:spcBef>
                  <a:spcPct val="0"/>
                </a:spcBef>
                <a:tabLst>
                  <a:tab pos="1489075" algn="l"/>
                  <a:tab pos="4114800" algn="l"/>
                  <a:tab pos="4970463" algn="l"/>
                  <a:tab pos="6916738" algn="l"/>
                </a:tabLst>
              </a:pPr>
              <a:r>
                <a:rPr lang="en-US" sz="2400" b="1" dirty="0" smtClean="0">
                  <a:solidFill>
                    <a:srgbClr val="303642"/>
                  </a:solidFill>
                  <a:latin typeface="DM Sans" pitchFamily="2" charset="0"/>
                </a:rPr>
                <a:t>Md. </a:t>
              </a:r>
              <a:r>
                <a:rPr lang="en-US" sz="2400" b="1" dirty="0" err="1" smtClean="0">
                  <a:solidFill>
                    <a:srgbClr val="303642"/>
                  </a:solidFill>
                  <a:latin typeface="DM Sans" pitchFamily="2" charset="0"/>
                </a:rPr>
                <a:t>Foysal</a:t>
              </a:r>
              <a:r>
                <a:rPr lang="en-US" sz="2400" b="1" dirty="0" smtClean="0">
                  <a:solidFill>
                    <a:srgbClr val="303642"/>
                  </a:solidFill>
                  <a:latin typeface="DM Sans" pitchFamily="2" charset="0"/>
                </a:rPr>
                <a:t> Ahmed</a:t>
              </a:r>
              <a:endParaRPr lang="en-US" sz="2400" b="1" dirty="0">
                <a:solidFill>
                  <a:srgbClr val="303642"/>
                </a:solidFill>
                <a:latin typeface="DM Sans" pitchFamily="2" charset="0"/>
              </a:endParaRPr>
            </a:p>
            <a:p>
              <a:pPr algn="ctr">
                <a:lnSpc>
                  <a:spcPts val="3107"/>
                </a:lnSpc>
                <a:spcBef>
                  <a:spcPct val="0"/>
                </a:spcBef>
                <a:tabLst>
                  <a:tab pos="1489075" algn="l"/>
                  <a:tab pos="4114800" algn="l"/>
                  <a:tab pos="4970463" algn="l"/>
                  <a:tab pos="6916738" algn="l"/>
                </a:tabLst>
              </a:pPr>
              <a:r>
                <a:rPr lang="en-US" sz="2400" b="1" dirty="0" smtClean="0">
                  <a:solidFill>
                    <a:srgbClr val="303642"/>
                  </a:solidFill>
                  <a:latin typeface="DM Sans" pitchFamily="2" charset="0"/>
                </a:rPr>
                <a:t>202002058</a:t>
              </a:r>
              <a:endParaRPr lang="en-US" sz="2400" b="1" dirty="0">
                <a:solidFill>
                  <a:srgbClr val="303642"/>
                </a:solidFill>
                <a:latin typeface="DM Sans" pitchFamily="2" charset="0"/>
              </a:endParaRPr>
            </a:p>
          </p:txBody>
        </p:sp>
      </p:grpSp>
      <p:pic>
        <p:nvPicPr>
          <p:cNvPr id="31" name="Picture 4">
            <a:extLst>
              <a:ext uri="{FF2B5EF4-FFF2-40B4-BE49-F238E27FC236}">
                <a16:creationId xmlns:a16="http://schemas.microsoft.com/office/drawing/2014/main" id="{FA864992-2C54-9387-EF66-581772211CF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6343092" y="9358382"/>
            <a:ext cx="6484879" cy="2071308"/>
          </a:xfrm>
          <a:prstGeom prst="rect">
            <a:avLst/>
          </a:prstGeom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ADDDFA92-5E09-59C2-560E-4ECC7709736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0568681" y="9350762"/>
            <a:ext cx="6484879" cy="2071308"/>
          </a:xfrm>
          <a:prstGeom prst="rect">
            <a:avLst/>
          </a:prstGeom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6648F418-C4AB-51F1-B596-B449D27E6EC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952576" y="9428090"/>
            <a:ext cx="6484879" cy="2071308"/>
          </a:xfrm>
          <a:prstGeom prst="rect">
            <a:avLst/>
          </a:prstGeom>
        </p:spPr>
      </p:pic>
      <p:pic>
        <p:nvPicPr>
          <p:cNvPr id="39" name="Picture 4">
            <a:extLst>
              <a:ext uri="{FF2B5EF4-FFF2-40B4-BE49-F238E27FC236}">
                <a16:creationId xmlns:a16="http://schemas.microsoft.com/office/drawing/2014/main" id="{97CE1BB1-D4D0-1FDE-96CF-7790AA4C20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-1709869" y="9360679"/>
            <a:ext cx="6484879" cy="2071308"/>
          </a:xfrm>
          <a:prstGeom prst="rect">
            <a:avLst/>
          </a:prstGeom>
        </p:spPr>
      </p:pic>
      <p:pic>
        <p:nvPicPr>
          <p:cNvPr id="40" name="Picture 4">
            <a:extLst>
              <a:ext uri="{FF2B5EF4-FFF2-40B4-BE49-F238E27FC236}">
                <a16:creationId xmlns:a16="http://schemas.microsoft.com/office/drawing/2014/main" id="{92B70733-7DFC-DF8B-5763-DA19A4FD10A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3723587" y="9358382"/>
            <a:ext cx="6484879" cy="2071308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81D81BC7-8C27-3B0F-34EA-AC2359AD0D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294530" cy="329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/>
          <p:cNvCxnSpPr/>
          <p:nvPr/>
        </p:nvCxnSpPr>
        <p:spPr>
          <a:xfrm flipV="1">
            <a:off x="6673638" y="4621590"/>
            <a:ext cx="5047040" cy="3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59121">
            <a:off x="-4012602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14800" y="2857500"/>
            <a:ext cx="1400485" cy="6493178"/>
            <a:chOff x="0" y="0"/>
            <a:chExt cx="368852" cy="17101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8852" cy="1710137"/>
            </a:xfrm>
            <a:custGeom>
              <a:avLst/>
              <a:gdLst/>
              <a:ahLst/>
              <a:cxnLst/>
              <a:rect l="l" t="t" r="r" b="b"/>
              <a:pathLst>
                <a:path w="368852" h="1710137">
                  <a:moveTo>
                    <a:pt x="0" y="0"/>
                  </a:moveTo>
                  <a:lnTo>
                    <a:pt x="368852" y="0"/>
                  </a:lnTo>
                  <a:lnTo>
                    <a:pt x="368852" y="1710137"/>
                  </a:lnTo>
                  <a:lnTo>
                    <a:pt x="0" y="1710137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68852" cy="1729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80992" y="1036994"/>
            <a:ext cx="7416941" cy="168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9981" spc="978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 rot="16929127">
            <a:off x="-5374732" y="-1185471"/>
            <a:ext cx="10749463" cy="2687366"/>
          </a:xfrm>
          <a:custGeom>
            <a:avLst/>
            <a:gdLst/>
            <a:ahLst/>
            <a:cxnLst/>
            <a:rect l="l" t="t" r="r" b="b"/>
            <a:pathLst>
              <a:path w="10749463" h="2687366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26833" y="3180988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26833" y="3978107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26833" y="4859264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26833" y="5656383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46434" y="6448760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46434" y="7279724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46434" y="8130017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02910" y="3288940"/>
            <a:ext cx="5790503" cy="41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of Industrial Training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2910" y="4083158"/>
            <a:ext cx="6076629" cy="41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524" spc="247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02910" y="5003248"/>
            <a:ext cx="5790503" cy="41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Work on Industry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02910" y="5797466"/>
            <a:ext cx="6076629" cy="41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 used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02910" y="6598310"/>
            <a:ext cx="6076629" cy="41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Grown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02910" y="7390687"/>
            <a:ext cx="5790503" cy="41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02910" y="8235068"/>
            <a:ext cx="6076629" cy="41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Session</a:t>
            </a:r>
          </a:p>
        </p:txBody>
      </p:sp>
      <p:pic>
        <p:nvPicPr>
          <p:cNvPr id="25" name="Picture 24" descr="Logo&#10;&#10;Description automatically generated with medium confidence">
            <a:extLst>
              <a:ext uri="{FF2B5EF4-FFF2-40B4-BE49-F238E27FC236}">
                <a16:creationId xmlns:a16="http://schemas.microsoft.com/office/drawing/2014/main" id="{FB4E2D39-41F6-DE5A-1E08-BCE91B7A9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0582" y="476682"/>
            <a:ext cx="1225956" cy="122595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A845C63-1E7E-77F5-A9B3-71BE47AEC6F3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ooter Placeholder 28">
            <a:extLst>
              <a:ext uri="{FF2B5EF4-FFF2-40B4-BE49-F238E27FC236}">
                <a16:creationId xmlns:a16="http://schemas.microsoft.com/office/drawing/2014/main" id="{18F6A54B-C6D5-5864-F263-FB942478A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33050" y="9778377"/>
            <a:ext cx="518335" cy="507791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2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0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42191" y="4828880"/>
            <a:ext cx="9752965" cy="1032847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142191" y="3396305"/>
            <a:ext cx="9610044" cy="1948998"/>
            <a:chOff x="0" y="0"/>
            <a:chExt cx="3682024" cy="7467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ahLst/>
              <a:cxn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474235" y="3673321"/>
            <a:ext cx="1156649" cy="1173721"/>
          </a:xfrm>
          <a:custGeom>
            <a:avLst/>
            <a:gdLst/>
            <a:ahLst/>
            <a:cxnLst/>
            <a:rect l="l" t="t" r="r" b="b"/>
            <a:pathLst>
              <a:path w="1156649" h="1173721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57431" y="7210021"/>
            <a:ext cx="9752965" cy="1032847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142191" y="5777447"/>
            <a:ext cx="9610044" cy="1948998"/>
            <a:chOff x="0" y="0"/>
            <a:chExt cx="3682024" cy="7467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ahLst/>
              <a:cxn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371799" y="6162574"/>
            <a:ext cx="1159455" cy="1178744"/>
          </a:xfrm>
          <a:custGeom>
            <a:avLst/>
            <a:gdLst/>
            <a:ahLst/>
            <a:cxnLst/>
            <a:rect l="l" t="t" r="r" b="b"/>
            <a:pathLst>
              <a:path w="1159455" h="1178744">
                <a:moveTo>
                  <a:pt x="0" y="0"/>
                </a:moveTo>
                <a:lnTo>
                  <a:pt x="1159455" y="0"/>
                </a:lnTo>
                <a:lnTo>
                  <a:pt x="1159455" y="1178744"/>
                </a:lnTo>
                <a:lnTo>
                  <a:pt x="0" y="11787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142191" y="888605"/>
            <a:ext cx="15764809" cy="1507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774"/>
              </a:lnSpc>
            </a:pPr>
            <a:r>
              <a:rPr lang="en-US" sz="6000" spc="978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32448" y="4253826"/>
            <a:ext cx="7132181" cy="41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r>
              <a:rPr lang="en-US" sz="4000" spc="216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industrial training?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32448" y="6131138"/>
            <a:ext cx="767350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4000" spc="216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need industrial</a:t>
            </a:r>
          </a:p>
          <a:p>
            <a:pPr marL="0" lvl="0" indent="0" algn="l">
              <a:spcBef>
                <a:spcPct val="0"/>
              </a:spcBef>
            </a:pPr>
            <a:r>
              <a:rPr lang="en-US" sz="4000" spc="216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training?</a:t>
            </a:r>
          </a:p>
        </p:txBody>
      </p:sp>
      <p:sp>
        <p:nvSpPr>
          <p:cNvPr id="20" name="Freeform 20"/>
          <p:cNvSpPr/>
          <p:nvPr/>
        </p:nvSpPr>
        <p:spPr>
          <a:xfrm>
            <a:off x="-2779578" y="734131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56BAB30-7616-606E-F65B-D1B908BEF3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97083" y="3346585"/>
            <a:ext cx="5715000" cy="4379860"/>
          </a:xfrm>
          <a:prstGeom prst="rect">
            <a:avLst/>
          </a:prstGeom>
        </p:spPr>
      </p:pic>
      <p:sp>
        <p:nvSpPr>
          <p:cNvPr id="22" name="Freeform 20">
            <a:extLst>
              <a:ext uri="{FF2B5EF4-FFF2-40B4-BE49-F238E27FC236}">
                <a16:creationId xmlns:a16="http://schemas.microsoft.com/office/drawing/2014/main" id="{CB7604B3-DAE3-3B53-A26E-5C7CC9D10746}"/>
              </a:ext>
            </a:extLst>
          </p:cNvPr>
          <p:cNvSpPr/>
          <p:nvPr/>
        </p:nvSpPr>
        <p:spPr>
          <a:xfrm>
            <a:off x="-5992526" y="-72390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5" descr="Logo&#10;&#10;Description automatically generated with medium confidence">
            <a:extLst>
              <a:ext uri="{FF2B5EF4-FFF2-40B4-BE49-F238E27FC236}">
                <a16:creationId xmlns:a16="http://schemas.microsoft.com/office/drawing/2014/main" id="{E162D655-E3BF-9C1A-3494-DF41B2718B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40582" y="476682"/>
            <a:ext cx="1225956" cy="122595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406E14A1-B602-87FB-B8BF-62099CBFC5D9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ooter Placeholder 28">
            <a:extLst>
              <a:ext uri="{FF2B5EF4-FFF2-40B4-BE49-F238E27FC236}">
                <a16:creationId xmlns:a16="http://schemas.microsoft.com/office/drawing/2014/main" id="{9DD13341-4DCD-B4F3-862C-CED4A7CC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33050" y="9778377"/>
            <a:ext cx="518335" cy="507791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3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4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69367" y="-10264537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20102" y="3030981"/>
            <a:ext cx="12057353" cy="1702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48"/>
              </a:lnSpc>
            </a:pPr>
            <a:r>
              <a:rPr lang="en-US" sz="10107" spc="990" dirty="0">
                <a:solidFill>
                  <a:srgbClr val="FFFFFF"/>
                </a:solidFill>
                <a:latin typeface="Oswald Bold"/>
              </a:rPr>
              <a:t>Projects</a:t>
            </a:r>
          </a:p>
        </p:txBody>
      </p:sp>
      <p:sp>
        <p:nvSpPr>
          <p:cNvPr id="4" name="Freeform 4"/>
          <p:cNvSpPr/>
          <p:nvPr/>
        </p:nvSpPr>
        <p:spPr>
          <a:xfrm>
            <a:off x="13447294" y="-3843198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20102" y="4905847"/>
            <a:ext cx="10951206" cy="49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898" spc="284" dirty="0">
                <a:solidFill>
                  <a:srgbClr val="F5FFF5"/>
                </a:solidFill>
                <a:latin typeface="DM Sans"/>
              </a:rPr>
              <a:t>During industrial training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39AF-D9D0-2F63-6F54-56FAE290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7FDA2E-D6E5-5EE7-C1AC-B4E53D76A3E1}"/>
              </a:ext>
            </a:extLst>
          </p:cNvPr>
          <p:cNvSpPr/>
          <p:nvPr/>
        </p:nvSpPr>
        <p:spPr>
          <a:xfrm flipH="1" flipV="1">
            <a:off x="0" y="-83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09A97F-D7DA-B095-FEF7-98146F3F76E9}"/>
              </a:ext>
            </a:extLst>
          </p:cNvPr>
          <p:cNvSpPr/>
          <p:nvPr/>
        </p:nvSpPr>
        <p:spPr>
          <a:xfrm rot="887923">
            <a:off x="17906557" y="-718836"/>
            <a:ext cx="10049554" cy="12757325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FA0E206-B6E7-0B4A-551C-8B55093AEC3F}"/>
              </a:ext>
            </a:extLst>
          </p:cNvPr>
          <p:cNvSpPr txBox="1"/>
          <p:nvPr/>
        </p:nvSpPr>
        <p:spPr>
          <a:xfrm>
            <a:off x="217491" y="1291253"/>
            <a:ext cx="10881712" cy="1430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6000" spc="924" dirty="0" smtClean="0">
                <a:solidFill>
                  <a:srgbClr val="231F20"/>
                </a:solidFill>
                <a:latin typeface="Oswald Bold"/>
              </a:rPr>
              <a:t>Project Overview</a:t>
            </a:r>
            <a:endParaRPr lang="en-US" sz="6000" spc="924" dirty="0">
              <a:solidFill>
                <a:srgbClr val="231F20"/>
              </a:solidFill>
              <a:latin typeface="Oswald Bold"/>
            </a:endParaRP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1D4C4D94-C61D-9AE6-0B93-B694A70E6A04}"/>
              </a:ext>
            </a:extLst>
          </p:cNvPr>
          <p:cNvSpPr/>
          <p:nvPr/>
        </p:nvSpPr>
        <p:spPr>
          <a:xfrm rot="887923">
            <a:off x="-7544132" y="4975000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39FB00-7369-BB0B-08CF-33471A9FE6B8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ooter Placeholder 28">
            <a:extLst>
              <a:ext uri="{FF2B5EF4-FFF2-40B4-BE49-F238E27FC236}">
                <a16:creationId xmlns:a16="http://schemas.microsoft.com/office/drawing/2014/main" id="{A4746201-104F-D33A-6113-54450012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33050" y="9778377"/>
            <a:ext cx="518335" cy="507791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5</a:t>
            </a:fld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F2AF505-4AA8-0E5D-53FE-3CCDF571D5EA}"/>
              </a:ext>
            </a:extLst>
          </p:cNvPr>
          <p:cNvSpPr/>
          <p:nvPr/>
        </p:nvSpPr>
        <p:spPr>
          <a:xfrm>
            <a:off x="6083565" y="8439355"/>
            <a:ext cx="548384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5">
                    <a:lumMod val="75000"/>
                  </a:schemeClr>
                </a:solidFill>
                <a:latin typeface="Montserrat" panose="00000500000000000000" pitchFamily="2" charset="0"/>
              </a:rPr>
              <a:t>Fig-02: </a:t>
            </a:r>
            <a:r>
              <a:rPr lang="en-US" dirty="0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0000500000000000000" pitchFamily="2" charset="0"/>
              </a:rPr>
              <a:t>Use Case Diagram</a:t>
            </a:r>
            <a:endParaRPr lang="en-US" dirty="0">
              <a:ln w="0"/>
              <a:solidFill>
                <a:schemeClr val="accent5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3" descr="Logo&#10;&#10;Description automatically generated with medium confidence">
            <a:extLst>
              <a:ext uri="{FF2B5EF4-FFF2-40B4-BE49-F238E27FC236}">
                <a16:creationId xmlns:a16="http://schemas.microsoft.com/office/drawing/2014/main" id="{A45C6EF1-C5B1-4047-7F79-6ADE885C3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pic>
        <p:nvPicPr>
          <p:cNvPr id="14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3610351"/>
            <a:ext cx="11859775" cy="306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1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887923">
            <a:off x="-11624071" y="4182516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12D4C28-26FE-78F1-4B68-FB662808ECD8}"/>
              </a:ext>
            </a:extLst>
          </p:cNvPr>
          <p:cNvSpPr/>
          <p:nvPr/>
        </p:nvSpPr>
        <p:spPr>
          <a:xfrm>
            <a:off x="5965248" y="9373056"/>
            <a:ext cx="548384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0000500000000000000" pitchFamily="2" charset="0"/>
              </a:rPr>
              <a:t>Fig-04: </a:t>
            </a:r>
            <a:r>
              <a:rPr lang="en-US" dirty="0" err="1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0000500000000000000" pitchFamily="2" charset="0"/>
              </a:rPr>
              <a:t>DineMaster</a:t>
            </a:r>
            <a:r>
              <a:rPr lang="en-US" dirty="0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0000500000000000000" pitchFamily="2" charset="0"/>
              </a:rPr>
              <a:t> (Food for life)</a:t>
            </a:r>
            <a:endParaRPr lang="en-US" dirty="0">
              <a:ln w="0"/>
              <a:solidFill>
                <a:schemeClr val="accent5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FC42FE2-E480-27FC-CFF9-4ADD218B73C8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ooter Placeholder 28">
            <a:extLst>
              <a:ext uri="{FF2B5EF4-FFF2-40B4-BE49-F238E27FC236}">
                <a16:creationId xmlns:a16="http://schemas.microsoft.com/office/drawing/2014/main" id="{7CF0B6B4-E584-8190-04EC-70426056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6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308" y="2799243"/>
            <a:ext cx="3844562" cy="23368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458" y="618290"/>
            <a:ext cx="3657600" cy="226972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37" y="824824"/>
            <a:ext cx="2743200" cy="366772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800100"/>
            <a:ext cx="2743200" cy="352700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9563" y="824824"/>
            <a:ext cx="2637952" cy="352700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926" y="824824"/>
            <a:ext cx="2743200" cy="365778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44" y="5414637"/>
            <a:ext cx="3342980" cy="354581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37" y="5381086"/>
            <a:ext cx="2743200" cy="350330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9"/>
          <a:stretch/>
        </p:blipFill>
        <p:spPr>
          <a:xfrm>
            <a:off x="8153400" y="5378243"/>
            <a:ext cx="2743200" cy="346975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9563" y="5302983"/>
            <a:ext cx="2637952" cy="352700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926" y="5361467"/>
            <a:ext cx="2743200" cy="3503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" y="4524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887923">
            <a:off x="-11624071" y="4182516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12D4C28-26FE-78F1-4B68-FB662808ECD8}"/>
              </a:ext>
            </a:extLst>
          </p:cNvPr>
          <p:cNvSpPr/>
          <p:nvPr/>
        </p:nvSpPr>
        <p:spPr>
          <a:xfrm>
            <a:off x="6184032" y="8133072"/>
            <a:ext cx="548384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0000500000000000000" pitchFamily="2" charset="0"/>
              </a:rPr>
              <a:t>Fig-08: </a:t>
            </a:r>
            <a:r>
              <a:rPr lang="en-US" dirty="0" err="1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0000500000000000000" pitchFamily="2" charset="0"/>
              </a:rPr>
              <a:t>DineMaster</a:t>
            </a:r>
            <a:r>
              <a:rPr lang="en-US" dirty="0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0000500000000000000" pitchFamily="2" charset="0"/>
              </a:rPr>
              <a:t>(Food for Life)</a:t>
            </a:r>
            <a:endParaRPr lang="en-US" dirty="0">
              <a:ln w="0"/>
              <a:solidFill>
                <a:schemeClr val="accent5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48" name="Picture 47" descr="Logo&#10;&#10;Description automatically generated with medium confidence">
            <a:extLst>
              <a:ext uri="{FF2B5EF4-FFF2-40B4-BE49-F238E27FC236}">
                <a16:creationId xmlns:a16="http://schemas.microsoft.com/office/drawing/2014/main" id="{94090A82-8895-AACE-7F8F-042A9BC5E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FC42FE2-E480-27FC-CFF9-4ADD218B73C8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ooter Placeholder 28">
            <a:extLst>
              <a:ext uri="{FF2B5EF4-FFF2-40B4-BE49-F238E27FC236}">
                <a16:creationId xmlns:a16="http://schemas.microsoft.com/office/drawing/2014/main" id="{7CF0B6B4-E584-8190-04EC-70426056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7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1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597" y="2324100"/>
            <a:ext cx="4572000" cy="245415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45" y="2324100"/>
            <a:ext cx="4572000" cy="245415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350" y="2295572"/>
            <a:ext cx="4572000" cy="25175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95" y="5089487"/>
            <a:ext cx="4572000" cy="26973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4032" y="5089487"/>
            <a:ext cx="4572000" cy="264625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31350" y="5090709"/>
            <a:ext cx="4572000" cy="27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7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FD3F-4538-10E4-65A1-669147EA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D3B29B9-214F-7A96-A22B-2B7790F1B3A8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342041" y="1257300"/>
            <a:ext cx="11201400" cy="1430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60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and Learning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D7C029B0-C4DC-AE2A-1224-CB7C85A3D137}"/>
              </a:ext>
            </a:extLst>
          </p:cNvPr>
          <p:cNvSpPr/>
          <p:nvPr/>
        </p:nvSpPr>
        <p:spPr>
          <a:xfrm rot="887923">
            <a:off x="-5959915" y="498262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1205E-84FF-5383-23E8-6A759B0F4701}"/>
              </a:ext>
            </a:extLst>
          </p:cNvPr>
          <p:cNvSpPr txBox="1"/>
          <p:nvPr/>
        </p:nvSpPr>
        <p:spPr>
          <a:xfrm>
            <a:off x="2895600" y="3771900"/>
            <a:ext cx="5675192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kern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 Research Skills</a:t>
            </a: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kern="0" dirty="0" smtClean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Wire-framing </a:t>
            </a:r>
            <a:r>
              <a:rPr lang="en-US" sz="2800" kern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kern="0" dirty="0" smtClean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Prototyping</a:t>
            </a: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kern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en-US" sz="2800" kern="0" dirty="0" smtClean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kern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Skills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Logo&#10;&#10;Description automatically generated with medium confidence">
            <a:extLst>
              <a:ext uri="{FF2B5EF4-FFF2-40B4-BE49-F238E27FC236}">
                <a16:creationId xmlns:a16="http://schemas.microsoft.com/office/drawing/2014/main" id="{E821F5FA-C068-2071-6D04-6A7F978FE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1708761-0108-51E6-AC8C-3BD68D779BAD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ooter Placeholder 28">
            <a:extLst>
              <a:ext uri="{FF2B5EF4-FFF2-40B4-BE49-F238E27FC236}">
                <a16:creationId xmlns:a16="http://schemas.microsoft.com/office/drawing/2014/main" id="{3F33AFD7-30C1-282B-48AF-766DEFC7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8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10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31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887923">
            <a:off x="-11624071" y="4182516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48" name="Picture 47" descr="Logo&#10;&#10;Description automatically generated with medium confidence">
            <a:extLst>
              <a:ext uri="{FF2B5EF4-FFF2-40B4-BE49-F238E27FC236}">
                <a16:creationId xmlns:a16="http://schemas.microsoft.com/office/drawing/2014/main" id="{94090A82-8895-AACE-7F8F-042A9BC5E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FC42FE2-E480-27FC-CFF9-4ADD218B73C8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ooter Placeholder 28">
            <a:extLst>
              <a:ext uri="{FF2B5EF4-FFF2-40B4-BE49-F238E27FC236}">
                <a16:creationId xmlns:a16="http://schemas.microsoft.com/office/drawing/2014/main" id="{7CF0B6B4-E584-8190-04EC-70426056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9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1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06614"/>
              </p:ext>
            </p:extLst>
          </p:nvPr>
        </p:nvGraphicFramePr>
        <p:xfrm>
          <a:off x="2667000" y="2847558"/>
          <a:ext cx="12546396" cy="5420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066">
                  <a:extLst>
                    <a:ext uri="{9D8B030D-6E8A-4147-A177-3AD203B41FA5}">
                      <a16:colId xmlns:a16="http://schemas.microsoft.com/office/drawing/2014/main" val="3587117015"/>
                    </a:ext>
                  </a:extLst>
                </a:gridCol>
                <a:gridCol w="2091066">
                  <a:extLst>
                    <a:ext uri="{9D8B030D-6E8A-4147-A177-3AD203B41FA5}">
                      <a16:colId xmlns:a16="http://schemas.microsoft.com/office/drawing/2014/main" val="3688355672"/>
                    </a:ext>
                  </a:extLst>
                </a:gridCol>
                <a:gridCol w="2091066">
                  <a:extLst>
                    <a:ext uri="{9D8B030D-6E8A-4147-A177-3AD203B41FA5}">
                      <a16:colId xmlns:a16="http://schemas.microsoft.com/office/drawing/2014/main" val="1041019201"/>
                    </a:ext>
                  </a:extLst>
                </a:gridCol>
                <a:gridCol w="2091066">
                  <a:extLst>
                    <a:ext uri="{9D8B030D-6E8A-4147-A177-3AD203B41FA5}">
                      <a16:colId xmlns:a16="http://schemas.microsoft.com/office/drawing/2014/main" val="1655280864"/>
                    </a:ext>
                  </a:extLst>
                </a:gridCol>
                <a:gridCol w="2091066">
                  <a:extLst>
                    <a:ext uri="{9D8B030D-6E8A-4147-A177-3AD203B41FA5}">
                      <a16:colId xmlns:a16="http://schemas.microsoft.com/office/drawing/2014/main" val="1246496479"/>
                    </a:ext>
                  </a:extLst>
                </a:gridCol>
                <a:gridCol w="2091066">
                  <a:extLst>
                    <a:ext uri="{9D8B030D-6E8A-4147-A177-3AD203B41FA5}">
                      <a16:colId xmlns:a16="http://schemas.microsoft.com/office/drawing/2014/main" val="1982630021"/>
                    </a:ext>
                  </a:extLst>
                </a:gridCol>
              </a:tblGrid>
              <a:tr h="695016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ID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Test Case Type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Result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Excepted Result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24430"/>
                  </a:ext>
                </a:extLst>
              </a:tr>
              <a:tr h="973023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Test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Home: click “Add to Cart”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to cart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to cart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366068"/>
                  </a:ext>
                </a:extLst>
              </a:tr>
              <a:tr h="973023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Test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Shop: click “Add to Cart”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to cart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to cart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94471"/>
                  </a:ext>
                </a:extLst>
              </a:tr>
              <a:tr h="973023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flow test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 &gt; Enter bKash number &gt; Pay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  <a:r>
                        <a:rPr lang="en-US" sz="2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successful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562917"/>
                  </a:ext>
                </a:extLst>
              </a:tr>
              <a:tr h="973023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test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load time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sometimes take long time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page load in 3 seconds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Failed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010264"/>
                  </a:ext>
                </a:extLst>
              </a:tr>
            </a:tbl>
          </a:graphicData>
        </a:graphic>
      </p:graphicFrame>
      <p:sp>
        <p:nvSpPr>
          <p:cNvPr id="13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1601232" y="863900"/>
            <a:ext cx="11201400" cy="1430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3015"/>
              </a:lnSpc>
              <a:spcBef>
                <a:spcPct val="0"/>
              </a:spcBef>
            </a:pPr>
            <a:r>
              <a:rPr lang="en-US" sz="6000" spc="924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sz="6000" spc="924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44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FD3F-4538-10E4-65A1-669147EA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D3B29B9-214F-7A96-A22B-2B7790F1B3A8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533400" y="1117718"/>
            <a:ext cx="11201400" cy="1430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60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and Learning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D7C029B0-C4DC-AE2A-1224-CB7C85A3D137}"/>
              </a:ext>
            </a:extLst>
          </p:cNvPr>
          <p:cNvSpPr/>
          <p:nvPr/>
        </p:nvSpPr>
        <p:spPr>
          <a:xfrm rot="887923">
            <a:off x="-5959915" y="498262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1205E-84FF-5383-23E8-6A759B0F4701}"/>
              </a:ext>
            </a:extLst>
          </p:cNvPr>
          <p:cNvSpPr txBox="1"/>
          <p:nvPr/>
        </p:nvSpPr>
        <p:spPr>
          <a:xfrm>
            <a:off x="2895600" y="3848100"/>
            <a:ext cx="5675192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kern="0" dirty="0" smtClean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Test</a:t>
            </a: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kern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Planning and Design</a:t>
            </a:r>
            <a:endParaRPr lang="en-US" sz="2800" kern="0" dirty="0" smtClean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dirty="0"/>
              <a:t>Bug Tracking and </a:t>
            </a:r>
            <a:r>
              <a:rPr lang="en-US" sz="2800" dirty="0" smtClean="0"/>
              <a:t>Reporting</a:t>
            </a: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dirty="0"/>
              <a:t>User Acceptance </a:t>
            </a:r>
            <a:r>
              <a:rPr lang="en-US" sz="2800" dirty="0" smtClean="0"/>
              <a:t>Testing</a:t>
            </a:r>
          </a:p>
        </p:txBody>
      </p:sp>
      <p:pic>
        <p:nvPicPr>
          <p:cNvPr id="9" name="Picture 8" descr="Logo&#10;&#10;Description automatically generated with medium confidence">
            <a:extLst>
              <a:ext uri="{FF2B5EF4-FFF2-40B4-BE49-F238E27FC236}">
                <a16:creationId xmlns:a16="http://schemas.microsoft.com/office/drawing/2014/main" id="{E821F5FA-C068-2071-6D04-6A7F978FE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1708761-0108-51E6-AC8C-3BD68D779BAD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ooter Placeholder 28">
            <a:extLst>
              <a:ext uri="{FF2B5EF4-FFF2-40B4-BE49-F238E27FC236}">
                <a16:creationId xmlns:a16="http://schemas.microsoft.com/office/drawing/2014/main" id="{3F33AFD7-30C1-282B-48AF-766DEFC7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10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10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68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887923">
            <a:off x="-11624071" y="4182516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48" name="Picture 47" descr="Logo&#10;&#10;Description automatically generated with medium confidence">
            <a:extLst>
              <a:ext uri="{FF2B5EF4-FFF2-40B4-BE49-F238E27FC236}">
                <a16:creationId xmlns:a16="http://schemas.microsoft.com/office/drawing/2014/main" id="{94090A82-8895-AACE-7F8F-042A9BC5E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FC42FE2-E480-27FC-CFF9-4ADD218B73C8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ooter Placeholder 28">
            <a:extLst>
              <a:ext uri="{FF2B5EF4-FFF2-40B4-BE49-F238E27FC236}">
                <a16:creationId xmlns:a16="http://schemas.microsoft.com/office/drawing/2014/main" id="{7CF0B6B4-E584-8190-04EC-70426056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11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1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703036" y="1186782"/>
            <a:ext cx="15304795" cy="1445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3015"/>
              </a:lnSpc>
              <a:spcBef>
                <a:spcPct val="0"/>
              </a:spcBef>
            </a:pPr>
            <a:r>
              <a:rPr lang="en-US" sz="60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sz="6000" spc="924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</a:t>
            </a:r>
            <a:r>
              <a:rPr lang="en-US" sz="60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114" y="4325582"/>
            <a:ext cx="10285469" cy="3948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/>
          <a:srcRect l="12082"/>
          <a:stretch/>
        </p:blipFill>
        <p:spPr>
          <a:xfrm>
            <a:off x="10972583" y="4372386"/>
            <a:ext cx="6507364" cy="3901257"/>
          </a:xfrm>
          <a:prstGeom prst="rect">
            <a:avLst/>
          </a:prstGeom>
        </p:spPr>
      </p:pic>
      <p:sp>
        <p:nvSpPr>
          <p:cNvPr id="14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1406073" y="2399274"/>
            <a:ext cx="15304795" cy="1355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3015"/>
              </a:lnSpc>
              <a:spcBef>
                <a:spcPct val="0"/>
              </a:spcBef>
            </a:pPr>
            <a:r>
              <a:rPr lang="en-US" sz="35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140,700 rows and 20 columns</a:t>
            </a:r>
          </a:p>
        </p:txBody>
      </p:sp>
    </p:spTree>
    <p:extLst>
      <p:ext uri="{BB962C8B-B14F-4D97-AF65-F5344CB8AC3E}">
        <p14:creationId xmlns:p14="http://schemas.microsoft.com/office/powerpoint/2010/main" val="70720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 flipH="1" flipV="1">
            <a:off x="-1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 algn="ctr"/>
            <a:endParaRPr lang="en-US" dirty="0">
              <a:ln w="0"/>
              <a:solidFill>
                <a:schemeClr val="accent5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887923">
            <a:off x="-11624071" y="4182516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48" name="Picture 47" descr="Logo&#10;&#10;Description automatically generated with medium confidence">
            <a:extLst>
              <a:ext uri="{FF2B5EF4-FFF2-40B4-BE49-F238E27FC236}">
                <a16:creationId xmlns:a16="http://schemas.microsoft.com/office/drawing/2014/main" id="{94090A82-8895-AACE-7F8F-042A9BC5E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FC42FE2-E480-27FC-CFF9-4ADD218B73C8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ooter Placeholder 28">
            <a:extLst>
              <a:ext uri="{FF2B5EF4-FFF2-40B4-BE49-F238E27FC236}">
                <a16:creationId xmlns:a16="http://schemas.microsoft.com/office/drawing/2014/main" id="{7CF0B6B4-E584-8190-04EC-70426056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12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1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703036" y="1186782"/>
            <a:ext cx="15304795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3015"/>
              </a:lnSpc>
              <a:spcBef>
                <a:spcPct val="0"/>
              </a:spcBef>
            </a:pPr>
            <a:r>
              <a:rPr lang="en-US" sz="6500" spc="924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Mental Health Data </a:t>
            </a:r>
            <a:endParaRPr lang="en-US" sz="6500" spc="924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s://www.kaggleusercontent.com/kf/205712978/eyJhbGciOiJkaXIiLCJlbmMiOiJBMTI4Q0JDLUhTMjU2In0..m6t4ZlcXF5Z67BHJ_yCF1Q.28qkgihUH1CFiWnsBEnq39aL6-jS7XrZb9UbFar2XhXkoGwIHmaFjRlcYFcfCcaGh42BpNdhEbcFm7GCyrZpbPsH9bv_uUC2BJ5M9zM9Q4-iETjJRP-URnN6R7df3mD5SkbvAXg5ARgcgcJzcAcL8szENTdEI_he22DkhUhDhUdUgxjG3aq3TXMuHE3INMY7JmN23qk3zRaeSP92pBU8mFVPN-rbHKq7odBe8j71RCC82NDFRqpL2yqqti6dMJQknWxqmC2TUiiWrrBaQ2bRmks45Tu9Rl9geOm13BhqBi2YI-riMf6YGCZ9RBxbzZazXmbAN83xZkYO56yI0tYvaoKrAEizhQNd3TPUyPYbnQFW8TELLFQl3-i6zvPsKM31GUHtEkpdQi51MCWjdlAOhZPo3IbiaVPufP-1SH0lEGSt85HVsL0IEkkTl2fEFJVOe7mN3qLdDVlsAGL9GOtPmqlVQX9frz-P7Ae0D6u3bbYC1LPuLXKWBK9gcMDcdpbsoLpkQGYOd8FSBr-HZdReISZp-0OhHdE21zjXrJY_pFq2fiQWmvAo9jYd-K3jIwaYZioL66VQSrlIz8AmH8JhfFOZ2M51cWpIRehKr2_drRDJ1ajIdTIuBISh4bYN3jdiLIDRaSaEER50yVOTEZ0hIW_PFKdKFQBYNCue58qnuOM.1joVVs4d91eMySJhSnSPZQ/__results___files/__results___19_0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208" y="3857381"/>
            <a:ext cx="82677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www.kaggleusercontent.com/kf/205712978/eyJhbGciOiJkaXIiLCJlbmMiOiJBMTI4Q0JDLUhTMjU2In0..m6t4ZlcXF5Z67BHJ_yCF1Q.28qkgihUH1CFiWnsBEnq39aL6-jS7XrZb9UbFar2XhXkoGwIHmaFjRlcYFcfCcaGh42BpNdhEbcFm7GCyrZpbPsH9bv_uUC2BJ5M9zM9Q4-iETjJRP-URnN6R7df3mD5SkbvAXg5ARgcgcJzcAcL8szENTdEI_he22DkhUhDhUdUgxjG3aq3TXMuHE3INMY7JmN23qk3zRaeSP92pBU8mFVPN-rbHKq7odBe8j71RCC82NDFRqpL2yqqti6dMJQknWxqmC2TUiiWrrBaQ2bRmks45Tu9Rl9geOm13BhqBi2YI-riMf6YGCZ9RBxbzZazXmbAN83xZkYO56yI0tYvaoKrAEizhQNd3TPUyPYbnQFW8TELLFQl3-i6zvPsKM31GUHtEkpdQi51MCWjdlAOhZPo3IbiaVPufP-1SH0lEGSt85HVsL0IEkkTl2fEFJVOe7mN3qLdDVlsAGL9GOtPmqlVQX9frz-P7Ae0D6u3bbYC1LPuLXKWBK9gcMDcdpbsoLpkQGYOd8FSBr-HZdReISZp-0OhHdE21zjXrJY_pFq2fiQWmvAo9jYd-K3jIwaYZioL66VQSrlIz8AmH8JhfFOZ2M51cWpIRehKr2_drRDJ1ajIdTIuBISh4bYN3jdiLIDRaSaEER50yVOTEZ0hIW_PFKdKFQBYNCue58qnuOM.1joVVs4d91eMySJhSnSPZQ/__results___files/__results___22_1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5113" y="3467100"/>
            <a:ext cx="5589362" cy="563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4572000" y="9487735"/>
            <a:ext cx="791760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5">
                    <a:lumMod val="75000"/>
                  </a:schemeClr>
                </a:solidFill>
                <a:latin typeface="Montserrat" panose="020B0604020202020204" charset="0"/>
              </a:rPr>
              <a:t>Fig-08: </a:t>
            </a:r>
            <a:r>
              <a:rPr lang="en-US" sz="2000" dirty="0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20B0604020202020204" charset="0"/>
              </a:rPr>
              <a:t>Mental Health Data Analysis</a:t>
            </a:r>
            <a:endParaRPr lang="en-US" sz="2000" dirty="0">
              <a:ln w="0"/>
              <a:solidFill>
                <a:schemeClr val="accent5">
                  <a:lumMod val="75000"/>
                </a:schemeClr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99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887923">
            <a:off x="-11624071" y="4182516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48" name="Picture 47" descr="Logo&#10;&#10;Description automatically generated with medium confidence">
            <a:extLst>
              <a:ext uri="{FF2B5EF4-FFF2-40B4-BE49-F238E27FC236}">
                <a16:creationId xmlns:a16="http://schemas.microsoft.com/office/drawing/2014/main" id="{94090A82-8895-AACE-7F8F-042A9BC5E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FC42FE2-E480-27FC-CFF9-4ADD218B73C8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ooter Placeholder 28">
            <a:extLst>
              <a:ext uri="{FF2B5EF4-FFF2-40B4-BE49-F238E27FC236}">
                <a16:creationId xmlns:a16="http://schemas.microsoft.com/office/drawing/2014/main" id="{7CF0B6B4-E584-8190-04EC-70426056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13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1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703036" y="1186782"/>
            <a:ext cx="15304795" cy="1445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3015"/>
              </a:lnSpc>
              <a:spcBef>
                <a:spcPct val="0"/>
              </a:spcBef>
            </a:pPr>
            <a:r>
              <a:rPr lang="en-US" sz="65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sz="6500" spc="924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</a:t>
            </a:r>
            <a:r>
              <a:rPr lang="en-US" sz="65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pic>
        <p:nvPicPr>
          <p:cNvPr id="2052" name="Picture 4" descr="https://www.kaggleusercontent.com/kf/205712978/eyJhbGciOiJkaXIiLCJlbmMiOiJBMTI4Q0JDLUhTMjU2In0..m6t4ZlcXF5Z67BHJ_yCF1Q.28qkgihUH1CFiWnsBEnq39aL6-jS7XrZb9UbFar2XhXkoGwIHmaFjRlcYFcfCcaGh42BpNdhEbcFm7GCyrZpbPsH9bv_uUC2BJ5M9zM9Q4-iETjJRP-URnN6R7df3mD5SkbvAXg5ARgcgcJzcAcL8szENTdEI_he22DkhUhDhUdUgxjG3aq3TXMuHE3INMY7JmN23qk3zRaeSP92pBU8mFVPN-rbHKq7odBe8j71RCC82NDFRqpL2yqqti6dMJQknWxqmC2TUiiWrrBaQ2bRmks45Tu9Rl9geOm13BhqBi2YI-riMf6YGCZ9RBxbzZazXmbAN83xZkYO56yI0tYvaoKrAEizhQNd3TPUyPYbnQFW8TELLFQl3-i6zvPsKM31GUHtEkpdQi51MCWjdlAOhZPo3IbiaVPufP-1SH0lEGSt85HVsL0IEkkTl2fEFJVOe7mN3qLdDVlsAGL9GOtPmqlVQX9frz-P7Ae0D6u3bbYC1LPuLXKWBK9gcMDcdpbsoLpkQGYOd8FSBr-HZdReISZp-0OhHdE21zjXrJY_pFq2fiQWmvAo9jYd-K3jIwaYZioL66VQSrlIz8AmH8JhfFOZ2M51cWpIRehKr2_drRDJ1ajIdTIuBISh4bYN3jdiLIDRaSaEER50yVOTEZ0hIW_PFKdKFQBYNCue58qnuOM.1joVVs4d91eMySJhSnSPZQ/__results___files/__results___24_1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317" y="3197993"/>
            <a:ext cx="6019800" cy="5839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www.kaggleusercontent.com/kf/205712978/eyJhbGciOiJkaXIiLCJlbmMiOiJBMTI4Q0JDLUhTMjU2In0..m6t4ZlcXF5Z67BHJ_yCF1Q.28qkgihUH1CFiWnsBEnq39aL6-jS7XrZb9UbFar2XhXkoGwIHmaFjRlcYFcfCcaGh42BpNdhEbcFm7GCyrZpbPsH9bv_uUC2BJ5M9zM9Q4-iETjJRP-URnN6R7df3mD5SkbvAXg5ARgcgcJzcAcL8szENTdEI_he22DkhUhDhUdUgxjG3aq3TXMuHE3INMY7JmN23qk3zRaeSP92pBU8mFVPN-rbHKq7odBe8j71RCC82NDFRqpL2yqqti6dMJQknWxqmC2TUiiWrrBaQ2bRmks45Tu9Rl9geOm13BhqBi2YI-riMf6YGCZ9RBxbzZazXmbAN83xZkYO56yI0tYvaoKrAEizhQNd3TPUyPYbnQFW8TELLFQl3-i6zvPsKM31GUHtEkpdQi51MCWjdlAOhZPo3IbiaVPufP-1SH0lEGSt85HVsL0IEkkTl2fEFJVOe7mN3qLdDVlsAGL9GOtPmqlVQX9frz-P7Ae0D6u3bbYC1LPuLXKWBK9gcMDcdpbsoLpkQGYOd8FSBr-HZdReISZp-0OhHdE21zjXrJY_pFq2fiQWmvAo9jYd-K3jIwaYZioL66VQSrlIz8AmH8JhfFOZ2M51cWpIRehKr2_drRDJ1ajIdTIuBISh4bYN3jdiLIDRaSaEER50yVOTEZ0hIW_PFKdKFQBYNCue58qnuOM.1joVVs4d91eMySJhSnSPZQ/__results___files/__results___27_1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3187755"/>
            <a:ext cx="5925492" cy="5839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4396631" y="9335215"/>
            <a:ext cx="791760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5">
                    <a:lumMod val="75000"/>
                  </a:schemeClr>
                </a:solidFill>
                <a:latin typeface="Montserrat" panose="020B0604020202020204" charset="0"/>
              </a:rPr>
              <a:t>Fig-08: </a:t>
            </a:r>
            <a:r>
              <a:rPr lang="en-US" sz="2000" dirty="0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20B0604020202020204" charset="0"/>
              </a:rPr>
              <a:t>Mental Health Data Analysis</a:t>
            </a:r>
            <a:endParaRPr lang="en-US" sz="2000" dirty="0">
              <a:ln w="0"/>
              <a:solidFill>
                <a:schemeClr val="accent5">
                  <a:lumMod val="75000"/>
                </a:schemeClr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7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51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887923">
            <a:off x="-11624071" y="4182516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48" name="Picture 47" descr="Logo&#10;&#10;Description automatically generated with medium confidence">
            <a:extLst>
              <a:ext uri="{FF2B5EF4-FFF2-40B4-BE49-F238E27FC236}">
                <a16:creationId xmlns:a16="http://schemas.microsoft.com/office/drawing/2014/main" id="{94090A82-8895-AACE-7F8F-042A9BC5E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FC42FE2-E480-27FC-CFF9-4ADD218B73C8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ooter Placeholder 28">
            <a:extLst>
              <a:ext uri="{FF2B5EF4-FFF2-40B4-BE49-F238E27FC236}">
                <a16:creationId xmlns:a16="http://schemas.microsoft.com/office/drawing/2014/main" id="{7CF0B6B4-E584-8190-04EC-70426056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14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1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703036" y="1186782"/>
            <a:ext cx="15304795" cy="1445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3015"/>
              </a:lnSpc>
              <a:spcBef>
                <a:spcPct val="0"/>
              </a:spcBef>
            </a:pPr>
            <a:r>
              <a:rPr lang="en-US" sz="65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sz="6500" spc="924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</a:t>
            </a:r>
            <a:r>
              <a:rPr lang="en-US" sz="6500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r="30799" b="34278"/>
          <a:stretch/>
        </p:blipFill>
        <p:spPr>
          <a:xfrm>
            <a:off x="1148297" y="3363113"/>
            <a:ext cx="5637605" cy="14440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565" y="6124869"/>
            <a:ext cx="8862183" cy="977325"/>
          </a:xfrm>
          <a:prstGeom prst="rect">
            <a:avLst/>
          </a:prstGeom>
        </p:spPr>
      </p:pic>
      <p:sp>
        <p:nvSpPr>
          <p:cNvPr id="6" name="AutoShape 2" descr="data:image/png;base64,iVBORw0KGgoAAAANSUhEUgAAArMAAAIjCAYAAAAQgZNYAAAAOXRFWHRTb2Z0d2FyZQBNYXRwbG90bGliIHZlcnNpb24zLjcuNSwgaHR0cHM6Ly9tYXRwbG90bGliLm9yZy/xnp5ZAAAACXBIWXMAAA9hAAAPYQGoP6dpAAA5sElEQVR4nO3deVhVdeLH8c9lxwVEUdxI3HKZEnfEtLIwMtPc0Rbc0slcoxqlTDQrrMmGzG0qt5lQySVz0tEx0nGaLFdSR9PcrRHU/AmIhgrn94ePd7pdUK4C16+9X89znye+53vu/R6r+7w999yDzbIsSwAAAICBPNy9AAAAAOBGEbMAAAAwFjELAAAAYxGzAAAAMBYxCwAAAGMRswAAADAWMQsAAABjEbMAAAAwFjELAAAAYxGzAGCIjIwM9erVS5UqVZLNZlNSUpK7lwQAbkfMAigWM2fOlM1mU0REhLuXctt67rnntHbtWsXHx+uvf/2rHn744QLnrVu3TjabTZMmTXLadvjwYZUpU0a9evVy2vavf/1Lffr0UY0aNeTj46PAwEBFRETo1VdfVUZGhsPc+++/Xzabzf7w8fFR7dq1NXToUB0/frx4DvgmbNiwQTabTUuXLr3u3NzcXL333ntq166dgoKC5OPjo+rVq6tr165atGiR8vLy7HOPHDnicNw2m00BAQFq2rSppk+f7jAXQOnwcvcCANwekpOTFRYWps2bN+vAgQOqV6+eu5d02/niiy/02GOP6YUXXrjmvI4dO+rxxx9XYmKi+vXrpzvvvNO+7dlnn5W3t7emTZvmsM+ECRM0efJk1alTRwMGDFCdOnX0888/a9u2bZo6daoWLFiggwcPOuxTs2ZNJSYmSpIuXryoPXv2aPbs2Vq7dq327t2rMmXKFNORl5xTp06pU6dO2rZtm6KjozV+/HhVrFhR6enp+vzzz/X444/rwIEDeuWVVxz269evnx555BFJUmZmplavXq2RI0fq6NGj+uMf/+iOQwF+uywAuEmHDh2yJFnLly+3KleubE2cONHdSyrUuXPn3L2EG2az2azhw4cXaW5GRoYVFBRkdejQwT62aNEiS5I1bdo0h7mLFy+2JFl9+vSxcnNznZ7r7NmzVkJCgsPYfffdZ/3ud79zmjt9+nRLkvWPf/yjSOssKevXr7ckWUuWLLnmvOjoaMvDw8NatmxZgdu3bNliffTRR/afDx8+bEmy/vjHPzrMy8/Pt1q1amVVr1795hcPwCVcZgDgpiUnJysoKEidO3dWr169lJycXOC8s2fP6rnnnlNYWJh8fX1Vs2ZNxcbG6vTp0/Y5P//8syZOnKg777xTfn5+qlatmnr06GE/K3j14+MNGzY4PPfVj3/nz59vHxswYIDKlSungwcP6pFHHlH58uX1xBNPSLrykXrv3r11xx13yNfXV6GhoXruued04cIFp3V/99136tOnjypXrix/f381aNBAL7/8siRp/fr1stls+uSTT5z2W7hwoWw2mzZt2nTNP79Dhw6pd+/eqlixosqUKaM2bdpo1apV9u3z58+XzWaTZVmaMWOG/ePta6lSpYrefPNNrV+/XgsWLLD/2bdq1UrDhw93mDthwgQFBwdrzpw58vHxcXquwMBATZw48Zqvd1XVqlUlSV5ehX/wl5GRIS8vrwIvg9i3b59sNpumT58uSbp06ZImTZqk+vXry8/PT5UqVVK7du20bt26Iq3nWjZt2qS1a9dq6NCh6tGjR4FzWrZsaf9v5lpsNptCQkKuedwASgb/1wG4acnJyerRo4d8fHzUr18/zZo1S1u2bFGrVq3sc86dO6f27dtr7969GjRokJo3b67Tp09r5cqV+uGHHxQcHKy8vDw9+uijSk1NVd++fTV69GhlZ2dr3bp12r17t+rWrevy2i5fvqzo6Gi1a9dOb7/9tv2j7yVLluj8+fMaNmyYKlWqpM2bN+u9997TDz/8oCVLltj337lzp9q3by9vb28NHTpUYWFhOnjwoP72t7/p9ddf1/3336/Q0FAlJyere/fuTn8udevWVWRkZKHry8jIUNu2bXX+/HmNGjVKlSpV0oIFC9S1a1ctXbpU3bt317333qu//vWveuqpp9SxY0fFxsYW6diffvppLViwQC+88ILWrl2rU6dOafXq1fLw+N95jP3792v//v16+umnVa5cOVf+aJWXl2f/i8ilS5e0d+9eJSQkqF69errnnnsK3S8kJET33XefPv74YyUkJDhsS0lJkaenp3r37i1JmjhxohITE/X000+rdevWysrK0tatW7V9+3Z17NjRpfX+2t/+9jdJ0pNPPunyvufPn7cfe1ZWlv7+979rzZo1io+Pv6k1AbgB7j41DMBsW7dutSRZ69atsyzrysetNWvWtEaPHu0wb8KECfZLEX4tPz/fsizLmjt3riXJeueddwqdc/Xj4/Xr1ztsv/rx77x58+xj/fv3tyRZ48aNc3q+8+fPO40lJiZaNpvNOnr0qH3s3nvvtcqXL+8w9sv1WJZlxcfHW76+vtbZs2ftYydPnrS8vLycPp7/tTFjxliSrH/961/2sezsbKt27dpWWFiYlZeXZx+XVOTLDK7avXu35e3tbUmyxowZ47T9008/tSRZSUlJTsd36tQph8elS5fs2++77z5LktOjUaNG1qFDh667rj//+c+WJGvXrl0O440bN7YeeOAB+8/h4eFW586dXTpmyyraZQbdu3e3JDn8e7Msy7pw4YLDcf/f//2ffdvV/84KegwbNszhvwsApYPLDADclOTkZIWEhKhDhw6SrnzcGhMTo8WLFzt8s3vZsmUKDw93Ont5dZ+rc4KDgzVy5MhC59yIYcOGOY35+/vb/zknJ0enT59W27ZtZVmWduzYIenKl4M2btyoQYMG6Y477ih0PbGxscrNzXX45nxKSoouX7583bN+q1evVuvWrdWuXTv7WLly5TR06FAdOXJEe/bsce1gfyUgIMB+6cBDDz3ktD0rK8v+mr+UmZmpypUrOzzS0tIc5oSFhWndunVat26d/v73vyspKUmZmZnq1KmTTp06dc119ejRQ15eXkpJSbGP7d69W3v27FFMTIx9rEKFCvrPf/6j77//3qXjLorCjn327NkOx/3LfzdXDR061H7sy5Yt0/Dhw/XnP/9ZcXFxxb5OANdGzAK4YXl5eVq8eLE6dOigw4cP68CBAzpw4IAiIiKUkZGh1NRU+9yDBw/qrrvuuubzHTx4UA0aNCjW6w69vLxUs2ZNp/Fjx45pwIABqlixosqVK6fKlSvrvvvuk3Ql5KQr17JKuu66GzZsqFatWjlcK5ycnKw2bdpc964OR48eVYMGDZzGGzVqZN9+M0aMGCEPDw/VqlVLzz//vC5duuSwvXz58pKuXAbyS+XKlbPH2osvvljgc5ctW1ZRUVGKiorSww8/rNGjR2vlypXat2+fpkyZcs11BQcH68EHH9THH39sH0tJSZGXl5fD9auvvvqqzp49qzvvvFN33323XnzxRe3cudOlP4PCFHbsPXv2tB97kyZNCty3fv369mPv0aOHpk+frmeffVZJSUnatWtXsawPQNEQswBu2BdffKETJ05o8eLFql+/vv3Rp08fSSr0i2A3o7AztIXd39PX19fhGtGrczt27KhVq1Zp7NixWrFihdatW2f/8lh+fr7L64qNjdU///lP/fDDDzp48KC+/vrrG7oWszgtX75cK1eu1OTJkzVz5kzt3bvX6bZRDRs2lHTlrOgveXl52WOtcePGRX7NFi1aKDAwUBs3brzu3L59+2r//v32M74ff/yxHnzwQQUHB9vn3HvvvTp48KDmzp2ru+66Sx9++KGaN2+uDz/8sMhrKkxhxx4aGmo/9qCgoCI/34MPPihJRTp2AMWHmAVww5KTk1WlShUtWbLE6dGvXz998skn9rsD1K1b1ykafq1u3brat2+f09nDX7oaF2fPnnUYd+UM5q5du7R//35NnTpVY8eO1WOPPaaoqChVr17dYV6dOnUkOcdOQfr27StPT08tWrRIycnJ8vb2dvi4vDC1atXSvn37nMa/++47+/YbkZ2drVGjRql58+YaMWKEHnnkEfXs2VOvvfaaDh8+bJ/XoEED1a9fXytWrFBOTs4Nvdav5eXlOZ3tLEi3bt3k4+OjlJQUpaWlaf/+/erbt6/TvIoVK2rgwIFatGiRjh8/riZNmhT57grX8uijj0oqvr90Xb58WZLzmV4AJYuYBXBDLly4oOXLl+vRRx9Vr169nB4jRoxQdna2Vq5cKenKR7fffvttgbewsizLPuf06dP22zIVNKdWrVry9PR0Ovs1c+bMIq/d09PT4Tmv/vO7777rMK9y5cq69957NXfuXB07dqzA9VwVHBysTp066aOPPlJycrIefvhhhzOMhXnkkUe0efNmh9t35eTk6P3331dYWJhLZ0V/afz48Tpx4oT+/Oc/24/33Xfflaenp0aMGOEwd+LEiTp9+rSGDBlS4F8kfn2s17J+/XqdO3dO4eHh151boUIFRUdH6+OPP9bixYvl4+Ojbt26Ocz56aefHH4uV66c6tWrp9zc3CKvqTD33HOPOnbsqPfff1+ffvppgXNcOfard0coyrEDKD7cmgvADVm5cqWys7PVtWvXAre3adNGlStXVnJysmJiYvTiiy9q6dKl6t27twYNGqQWLVrozJkzWrlypWbPnq3w8HDFxsbqL3/5i+Li4rR582a1b99eOTk5+vzzz/Xss8/qscceU2BgoHr37q333ntPNptNdevW1WeffaaTJ08Wee0NGzZU3bp19cILL+jHH39UQECAli1bpv/7v/9zmjtt2jS1a9dOzZs319ChQ1W7dm0dOXJEq1atcvpCVGxsrP3XxE6ePLlIaxk3bpwWLVqkTp06adSoUapYsaIWLFigw4cPa9myZU6XSBTFtm3bNGPGDA0fPlwtW7a0j9eoUUOvvvqq4uLitGzZMvXs2VOS9Pjjj2v37t1KTEzU5s2b1bdvX9WuXVs5OTnavXu3Fi1apPLlyzt95J6ZmamPPvpI0pWzkvv27dOsWbPk7++vcePGFWmtMTExevLJJzVz5kxFR0erQoUKDtsbN26s+++/Xy1atFDFihW1detWLV261CnIC7Ns2TL7We5f6t+/v0JDQ/XRRx/p4YcfVrdu3dSpUyf7pQVXfwPYxo0b1alTJ6f9t2/fbj/27OxspaamatmyZWrbtm2BX7QDUILcdyMFACbr0qWL5efnZ+Xk5BQ6Z8CAAZa3t7d1+vRpy7Is66effrJGjBhh1ahRw/Lx8bFq1qxp9e/f377dsq7cMuvll1+2ateubXl7e1tVq1a1evXqZR08eNA+59SpU1bPnj2tMmXKWEFBQdbvf/97a/fu3QXemqts2bIFrm3Pnj1WVFSUVa5cOSs4ONgaMmSI9e233zo9h2Vdub1V9+7drQoVKlh+fn5WgwYNrFdeecXpOXNzc62goCArMDDQunDhQlH+GC3LsqyDBw9avXr1sj9/69atrc8++8xpnopwa67Lly9bzZs3t6pXr25lZmYWuL1p06ZWzZo1rezsbIdtGzZssHr16mVVq1bN8vb2tgICAqyWLVtaCQkJ1okTJxzm/vrWXDabzapYsaLVtWtXa9u2bUU+9qysLMvf39+S5PCbtq567bXXrNatW1sVKlSw/P39rYYNG1qvv/66dfHixWs+79VbcxX2+OWt0C5cuGAlJSVZkZGRVkBAgOXl5WVVrVrVevTRR63k5GTr8uXL9rkF3ZrLy8vLqlOnjvXiiy86/ZkCKHk2y3LhMxQAQKEuX76s6tWrq0uXLpozZ467lwMAvwlcMwsAxWTFihU6depUkX9DFwDg5nFmFgBu0jfffKOdO3dq8uTJCg4O1vbt2929JAD4zeDMLADcpFmzZmnYsGGqUqWK/vKXv7h7OQDwm+LWmN24caO6dOmi6tWry2azacWKFdfdZ8OGDWrevLl8fX1Vr149+03OAcBd5s+fr8uXL2vr1q3X/W1hAIDi5daYzcnJUXh4uGbMmFGk+YcPH1bnzp3VoUMHpaWlacyYMXr66ae1du3aEl4pAAAAbkW3zDWzNptNn3zyidMNs39p7NixWrVqlcNv4+nbt6/Onj2rNWvWlMIqAQAAcCsx6pcmbNq0SVFRUQ5j0dHRGjNmTKH75ObmOvymmPz8fJ05c0aVKlUq9He8AwAAwH0sy1J2draqV69+3V8eY1TMpqenKyQkxGEsJCREWVlZunDhgvz9/Z32SUxM1KRJk0priQAAACgmx48fV82aNa85x6iYvRHx8fGKi4uz/5yZmak77rhDx48fV0BAgBtXBgAAgIJkZWUpNDRU5cuXv+5co2K2atWqysjIcBjLyMhQQEBAgWdlJcnX11e+vr5O4wEBAcQsAADALawol4QadZ/ZyMhIpaamOoytW7dOkZGRbloRAAAA3MmtMXvu3DmlpaUpLS1N0pVbb6WlpenYsWOSrlwi8MtfC/nMM8/o0KFD+sMf/qDvvvtOM2fO1Mcff6znnnvOHcsHAACAm7k1Zrdu3apmzZqpWbNmkqS4uDg1a9ZMEyZMkCSdOHHCHraSVLt2ba1atUrr1q1TeHi4pk6dqg8//FDR0dFuWT8AAADc65a5z2xpycrKUmBgoDIzM7lmFgAA4BbkSq8Zdc0sAAAA8EvELAAAAIxFzAIAAMBYxCwAAACMZdQvTQAA3JqKcF9zAIa7VW8ZQMyWAtsk3uWB3wIr4RZ9pweA2xiXGQA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G6P2RkzZigsLEx+fn6KiIjQ5s2brzk/KSlJDRo0kL+/v0JDQ/Xcc8/p559/LqXVAgAA4Fbi1phNSUlRXFycEhIStH37doWHhys6OlonT54scP7ChQs1btw4JSQkaO/evZozZ45SUlL00ksvlfLKAQAAcCtwa8y+8847GjJkiAYOHKjGjRtr9uzZKlOmjObOnVvg/K+++kr33HOPHn/8cYWFhemhhx5Sv379rns2FwAAALcnt8XsxYsXtW3bNkVFRf1vMR4eioqK0qZNmwrcp23bttq2bZs9Xg8dOqTVq1frkUceKfR1cnNzlZWV5fAAAADA7cHLXS98+vRp5eXlKSQkxGE8JCRE3333XYH7PP744zp9+rTatWsny7J0+fJlPfPMM9e8zCAxMVGTJk0q1rUDAADg1uD2L4C5YsOGDXrjjTc0c+ZMbd++XcuXL9eqVas0efLkQveJj49XZmam/XH8+PFSXDEAAABKktvOzAYHB8vT01MZGRkO4xkZGapatWqB+7zyyit66qmn9PTTT0uS7r77buXk5Gjo0KF6+eWX5eHh3Oa+vr7y9fUt/gMAAACA27ntzKyPj49atGih1NRU+1h+fr5SU1MVGRlZ4D7nz593ClZPT09JkmVZJbdYAAAA3JLcdmZWkuLi4tS/f3+1bNlSrVu3VlJSknJycjRw4EBJUmxsrGrUqKHExERJUpcuXfTOO++oWbNmioiI0IEDB/TKK6+oS5cu9qgFAADAb4dbYzYmJkanTp3ShAkTlJ6erqZNm2rNmjX2L4UdO3bM4Uzs+PHjZbPZNH78eP3444+qXLmyunTpotdff91dhwAAAAA3slm/sc/ns7KyFBgYqMzMTAUEBJTKa9om2UrldQC4l5Xwm3o7dWDjbQ647ZVmMbrSa0bdzQAAAAD4JW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Zye8zOmDFDYWFh8vPzU0REhDZv3nzN+WfPntXw4cNVrVo1+fr66s4779Tq1atLabUAAAC4lXi588VTUlIUFxen2bNnKyIiQklJSYqOjta+fftUpUoVp/kXL15Ux44dVaVKFS1dulQ1atTQ0aNHVaFChdJfPAAAANzOrTH7zjvvaMiQIRo4cKAkafbs2Vq1apXmzp2rcePGOc2fO3euzpw5o6+++kre3t6SpLCwsNJcMgAAAG4hbrvM4OLFi9q2bZuioqL+txgPD0VFRWnTpk0F7rNy5UpFRkZq+PDhCgkJ0V133aU33nhDeXl5hb5Obm6usrKyHB4AAAC4PbgtZk+fPq28vDyFhIQ4jIeEhCg9Pb3AfQ4dOqSlS5cqLy9Pq1ev1iuvvKKpU6fqtddeK/R1EhMTFRgYaH+EhoYW63EAAADAfdz+BTBX5Ofnq0qVKnr//ffVokULxcTE6OWXX9bs2bML3Sc+Pl6ZmZn2x/Hjx0txxQAAAChJbrtmNjg4WJ6ensrIyHAYz8jIUNWqVQvcp1q1avL29panp6d9rFGjRkpPT9fFixfl4+PjtI+vr698fX2Ld/EAAAC4JbjtzKyPj49atGih1NRU+1h+fr5SU1MVGRlZ4D733HOPDhw4oPz8fPvY/v37Va1atQJDFgAAALc3t15mEBcXpw8++EALFizQ3r17NWzYMOXk5NjvbhAbG6v4+Hj7/GHDhunMmTMaPXq09u/fr1WrVumNN97Q8OHD3XUIAAAAcCO33porJiZGp06d0oQJE5Senq6mTZtqzZo19i+FHTt2TB4e/+vt0NBQrV27Vs8995yaNGmiGjVqaPTo0Ro7dqy7DgEAAABuZLMsy3L3IkpTVlaWAgMDlZmZqYCAgFJ5TdskW6m8DgD3shJ+U2+nDmy8zQG3vdIsRld6zai7GQAAAAC/RMwCAADAWMQsAAAAjEXMAgAAwFjELAAAAIxFzAIAAMBYxCwAAACMRcwCAADAWMQsAAAAjEXMAgAAwFgux2xYWJheffVVHTt2rCTWAwAAABSZyzE7ZswYLV++XHXq1FHHjh21ePFi5ebmlsTaAAAAgGu6oZhNS0vT5s2b1ahRI40cOVLVqlXTiBEjtH379pJYIwAAAFCgG75mtnnz5po2bZr++9//KiEhQR9++KFatWqlpk2bau7cubIsqzjXCQAAADjxutEdL126pE8++UTz5s3TunXr1KZNGw0ePFg//PCDXnrpJX3++edauHBhca4VAAAAcOByzG7fvl3z5s3TokWL5OHhodjYWP3pT39Sw4YN7XO6d++uVq1aFetCAQAAgF9zOWZbtWqljh07atasWerWrZu8vb2d5tSuXVt9+/YtlgUCAAAAhXE5Zg8dOqRatWpdc07ZsmU1b968G14UAAAAUBQufwHs5MmT+uabb5zGv/nmG23durVYFgUAAAAUhcsxO3z4cB0/ftxp/Mcff9Tw4cOLZVEAAABAUbgcs3v27FHz5s2dxps1a6Y9e/YUy6IAAACAonA5Zn19fZWRkeE0fuLECXl53fCdvgAAAACXuRyzDz30kOLj45WZmWkfO3v2rF566SV17NixWBcHAAAAXIvLp1Lffvtt3XvvvapVq5aaNWsmSUpLS1NISIj++te/FvsCAQAAgMK4HLM1atTQzp07lZycrG+//Vb+/v4aOHCg+vXrV+A9ZwEAAICSckMXuZYtW1ZDhw4t7rUAAAAALrnhb2zt2bNHx44d08WLFx3Gu3btetOLAgAAAIrihn4DWPfu3bVr1y7ZbDZZliVJstlskqS8vLziXSEAAABQCJfvZjB69GjVrl1bJ0+eVJkyZfSf//xHGzduVMuWLbVhw4YSWCIAAABQMJfPzG7atElffPGFgoOD5eHhIQ8PD7Vr106JiYkaNWqUduzYURLrBAAAAJy4fGY2Ly9P5cuXlyQFBwfrv//9rySpVq1a2rdvX/GuDgAAALgGl8/M3nXXXfr2229Vu3ZtRURE6K233pKPj4/ef/991alTpyTWCAAAABTI5ZgdP368cnJyJEmvvvqqHn30UbVv316VKlVSSkpKsS8QAAAAKIzLMRsdHW3/53r16um7777TmTNnFBQUZL+jAQAAAFAaXLpm9tKlS/Ly8tLu3bsdxitWrEjIAgAAoNS5FLPe3t664447uJcsAAAAbgku383g5Zdf1ksvvaQzZ86UxHoAAACAInP5mtnp06frwIEDql69umrVqqWyZcs6bN++fXuxLQ4AAAC4Fpdjtlu3biWwDAAAAMB1LsdsQkJCSawDAAAAcJnL18wCAAAAtwqXz8x6eHhc8zZc3OkAAAAApcXlmP3kk08cfr506ZJ27NihBQsWaNKkScW2MAAAAOB6XI7Zxx57zGmsV69e+t3vfqeUlBQNHjy4WBYGAAAAXE+xXTPbpk0bpaamFtfTAQAAANdVLDF74cIFTZs2TTVq1CiOpwMAAACKxOXLDIKCghy+AGZZlrKzs1WmTBl99NFHxbo4AAAA4Fpcjtk//elPDjHr4eGhypUrKyIiQkFBQcW6OAAAAOBaXI7ZAQMGlMAyAAAAANe5fM3svHnztGTJEqfxJUuWaMGCBcWyKAAAAKAoXI7ZxMREBQcHO41XqVJFb7zxRrEsCgAAACgKl2P22LFjql27ttN4rVq1dOzYsWJZFAAAAFAULsdslSpVtHPnTqfxb7/9VpUqVSqWRQEAAABF4XLM9uvXT6NGjdL69euVl5envLw8ffHFFxo9erT69u1bEmsEAAAACuTy3QwmT56sI0eO6MEHH5SX15Xd8/PzFRsbyzWzAAAAKFUux6yPj49SUlL02muvKS0tTf7+/rr77rtVq1atklgfAAAAUCiXY/aq+vXrq379+sW5FgAAAMAlLl8z27NnT7355ptO42+99ZZ69+5dLIsCAAAAisLlmN24caMeeeQRp/FOnTpp48aNxbIoAAAAoChcjtlz587Jx8fHadzb21tZWVnFsigAAACgKFyO2bvvvlspKSlO44sXL1bjxo2LZVEAAABAUbj8BbBXXnlFPXr00MGDB/XAAw9IklJTU7Vw4UItXbq02BcIAAAAFMblmO3SpYtWrFihN954Q0uXLpW/v7/Cw8P1xRdfqGLFiiWxRgAAAKBAN3Rrrs6dO6tz586SpKysLC1atEgvvPCCtm3bpry8vGJdIAAAAFAYl6+ZvWrjxo3q37+/qlevrqlTp+qBBx7Q119/XZxrAwAAAK7JpTOz6enpmj9/vubMmaOsrCz16dNHubm5WrFiBV/+AgAAQKkr8pnZLl26qEGDBtq5c6eSkpL03//+V++9915Jrg0AAAC4piKfmf373/+uUaNGadiwYfwaWwAAANwSinxm9ssvv1R2drZatGihiIgITZ8+XadPny7JtQEAAADXVOSYbdOmjT744AOdOHFCv//977V48WJVr15d+fn5WrdunbKzs0tynQAAAIATl+9mULZsWQ0aNEhffvmldu3apeeff15TpkxRlSpV1LVr15JYIwAAAFCgG741lyQ1aNBAb731ln744QctWrSouNYEAAAAFMlNxexVnp6e6tatm1auXFkcTwcAAAAUSbHELAAAAOAOxCwAAACMRcwCAADAWMQsAAAAjEXMAgAAwFjELAAAAIxFzAIAAMBYxCwAAACMdUvE7IwZMxQWFiY/Pz9FRERo8+bNRdpv8eLFstls6tatW8kuEAAAALckt8dsSkqK4uLilJCQoO3btys8PFzR0dE6efLkNfc7cuSIXnjhBbVv376UVgoAAIBbjdtj9p133tGQIUM0cOBANW7cWLNnz1aZMmU0d+7cQvfJy8vTE088oUmTJqlOnTqluFoAAADcStwasxcvXtS2bdsUFRVlH/Pw8FBUVJQ2bdpU6H6vvvqqqlSposGDB1/3NXJzc5WVleXwAAAAwO3BrTF7+vRp5eXlKSQkxGE8JCRE6enpBe7z5Zdfas6cOfrggw+K9BqJiYkKDAy0P0JDQ2963QAAALg1uP0yA1dkZ2frqaee0gcffKDg4OAi7RMfH6/MzEz74/jx4yW8SgAAAJQWL3e+eHBwsDw9PZWRkeEwnpGRoapVqzrNP3jwoI4cOaIuXbrYx/Lz8yVJXl5e2rdvn+rWreuwj6+vr3x9fUtg9QAAAHA3t56Z9fHxUYsWLZSammofy8/PV2pqqiIjI53mN2zYULt27VJaWpr90bVrV3Xo0EFpaWlcQgAAAPAb49Yzs5IUFxen/v37q2XLlmrdurWSkpKUk5OjgQMHSpJiY2NVo0YNJSYmys/PT3fddZfD/hUqVJAkp3EAAADc/tweszExMTp16pQmTJig9PR0NW3aVGvWrLF/KezYsWPy8DDq0l4AAACUEptlWZa7F1GasrKyFBgYqMzMTAUEBJTKa9om2UrldQC4l5Xwm3o7dWDjbQ647ZVmMbrSa5zyBA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bomYnTFjhsLCwuTn56eIiAht3ry50LkffPCB2rdvr6CgIAUFBSkqKuqa8wEAAHD7cnvMpqSkKC4uTgkJCdq+fbvCw8MVHR2tkydPFjh/w4YN6tevn9avX69NmzYpNDRUDz30kH788cdSXjkAAADczWZZluXOBURERKhVq1aaPn26JCk/P1+hoaEaOXKkxo0bd9398/LyFBQUpOnTpys2Nva687OyshQYGKjMzEwFBATc9PqLwjbJViqvA8C9rAS3vp26lY23OeC2V5rF6EqvufXM7MWLF7Vt2zZFRUXZxzw8PBQVFaVNmzYV6TnOnz+vS5cuqWLFigVuz83NVVZWlsMDAAAAtwe3xuzp06eVl5enkJAQh/GQkBClp6cX6TnGjh2r6tWrOwTxLyUmJiowMND+CA0Nvel1AwAA4Nbg9mtmb8aUKVO0ePFiffLJJ/Lz8ytwTnx8vDIzM+2P48ePl/IqAQAAUFK83PniwcHB8vT0VEZGhsN4RkaGqlates193377bU2ZMkWff/65mjRpUug8X19f+fr6Fst6AQAAcGtx65lZHx8ftWjRQqmpqfax/Px8paamKjIystD93nrrLU2ePFlr1qxRy5YtS2OpAAAAuAW59cysJMXFxal///5q2bKlWrduraSkJOXk5GjgwIGSpNjYWNWoUUOJiYmSpDfffFMTJkzQwoULFRYWZr+2tly5cipXrpzbjgMAAAClz+0xGxMTo1OnTmnChAlKT09X06ZNtWbNGvuXwo4dOyYPj/+dQJ41a5YuXryoXr16OTxPQkKCJk6cWJpLBwAAgJu5/T6zpY37zAIoKdxnFsDtjPvMAgAAAMWM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W6JmJ0xY4bCwsLk5+eniIgIbd68+ZrzlyxZooYNG8rPz0933323Vq9eXUorBQAAwK3E7TGbkpKiuLg4JSQkaPv27QoPD1d0dLROnjxZ4PyvvvpK/fr10+DBg7Vjxw5169ZN3bp10+7du0t55QAAAHA3m2VZljsXEBERoVatWmn69OmSpPz8fIWGhmrkyJEaN26c0/yYmBjl5OTos88+s4+1adNGTZs21ezZs6/7ellZWQoMDFRmZqYCAgKK70CuwTbJViqvA8C9rAS3vp26lY23OeC2V5rF6EqveZXSmgp08eJFbdu2TfHx8fYxDw8PRUVFadOmTQXus2nTJsXFxTmMRUdHa8WKFQXOz83NVW5urv3nzMxMSVf+kErNz6X3UgDcp1TfVwCglJXmW9zV99OinHN1a8yePn1aeXl5CgkJcRgPCQnRd999V+A+6enpBc5PT08vcH5iYqImTZrkNB4aGnqDqwaAggVOCXT3EgCgxAS64S0uOztbgdd5YbfGbGmIj493OJObn5+vM2fOqFKlSrLxuRhKSFZWlkJDQ3X8+PFSu5wFAEoL73EoaZZlKTs7W9WrV7/uXLfGbHBwsDw9PZWRkeEwnpGRoapVqxa4T9WqVV2a7+vrK19fX4exChUq3PiiARcEBATwRg/gtsV7HErS9c7IXuXWuxn4+PioRYsWSk1NtY/l5+crNTVVkZGRBe4TGRnpMF+S1q1bV+h8AAAA3L7cfplBXFyc+vfvr5YtW6p169ZKSkpSTk6OBg4cKEmKjY1VjRo1lJiYKEkaPXq07rvvPk2dOlWdO3fW4sWLtXXrVr3//vvuPAwAAAC4gdtjNiYmRqdOndKECROUnp6upk2bas2aNfYveR07dkweHv87gdy2bVstXLhQ48eP10svvaT69etrxYoVuuuuu9x1CIATX19fJSQkOF3iAgC3A97jcCtx+31mAQAAgBvl9t8ABgAAANwoYhYAAADGImYBAABgLGIWAAAAxiJmgWvIy8tT27Zt1aNHD4fxzMxMhYaG6uWXX7aPLVu2TA888ICCgoLk7++vBg0aaNCgQdqxY4d9zvz582Wz2eyPcuXKqUWLFlq+fHmpHRMA/NqAAQPUrVu3Qrfv2LFDMTExqlatmnx9fVWrVi09+uij+tvf/qar3yM/cuSIw/ubj4+P6tWrp9dee0181xwliZgFrsHT01Pz58/XmjVrlJycbB8fOXKkKlasqISEBEnS2LFjFRMTo6ZNm2rlypXat2+fFi5cqDp16ig+Pt7hOQMCAnTixAmdOHFCO3bsUHR0tPr06aN9+/aV6rEBQFF8+umnatOmjc6dO6cFCxZo7969WrNmjbp3767x48crMzPTYf7nn3+uEydO6Pvvv9ekSZP0+uuva+7cuW5aPX4LuDUXUATTpk3TxIkT9Z///EebN29W7969tWXLFoWHh+vrr79WZGSk3n33XY0aNcppX8uyZLPZJF05MztmzBidPXvWvj0/P19+fn5KTk5W7969S+uQAMBuwIABOnv2rFasWOEwnpOTo1q1aunee+8t9BOkq+9xR44cUe3atbVjxw41bdrUvj0qKkoNGjTQjBkzSvAI8FvGmVmgCEaOHKnw8HA99dRTGjp0qCZMmKDw8HBJ0qJFi1SuXDk9++yzBe57NWQLkpeXpwULFkiSmjdvXvwLB4Cb8I9//EM//fST/vCHPxQ651rvcVu3btW2bdsUERFREssDJBGzQJHYbDbNmjVLqampCgkJ0bhx4+zb9u/frzp16sjL63+/UO+dd95RuXLl7I9ffgyXmZlpH/fx8dGwYcP0/vvvq27duqV6TABwPfv375ckNWjQwD62ZcsWh/e3zz77zGGftm3b2t/fWrVqpT59+ig2NrZU143fFrf/OlvAFHPnzlWZMmV0+PBh/fDDDwoLCyt07qBBg9S1a1d98803evLJJx2+/FC+fHlt375dknT+/Hl9/vnneuaZZ1SpUiV16dKlpA8DAG5KkyZNlJaWJkmqX7++Ll++7LA9JSVFjRo10qVLl7R7926NHDlSQUFBmjJlihtWi98CzswCRfDVV1/pT3/6kz777DO1bt1agwcPtgdq/fr1dejQIV26dMk+v0KFCqpXr55q1Kjh9FweHh6qV6+e6tWrpyZNmiguLk7333+/3nzzzVI7HgAoivr160uSwxdUfX197e9hBQkNDVW9evXUqFEj9e7dW2PGjNHUqVP1888/l8qa8dtDzALXcf78eQ0YMEDDhg1Thw4dNGfOHG3evFmzZ8+WJPXr10/nzp3TzJkzb/g1PD09deHCheJaMgAUi4ceekgVK1a8qb9se3p66vLly7p48WIxrgz4Hy4zAK4jPj5elmXZPyILCwvT22+/rRdeeEGdOnVSZGSknn/+eT3//PM6evSoevToodDQUJ04cUJz5syRzWaTh8f//t5oWZbS09MlSRcuXNC6deu0du1aTZgwwS3HBwDSlev5r14+cFWlSpX04YcfKiYmRp07d9aoUaNUv359nTt3TmvWrJF0JVZ/6aefflJ6erouX76sXbt26d1331WHDh0UEBBQWoeC3xoLQKE2bNhgeXp6Wv/617+ctj300EPWAw88YOXn51uWZVkpKSnW/fffbwUGBlre3t5WzZo1rccff9z6+uuv7fvMmzfPkmR/+Pr6Wnfeeaf1+uuvW5cvXy614wKAX+rfv7/De9PVx+DBgy3LsqwtW7ZYvXr1sqpUqWJ5eXlZlSpVsqKjo63Fixfb3wMPHz7ssK+np6dVs2ZNa8iQIdbJkyfdeXi4zXGfWQAAABiLa2YBAABgLGIWAAAAxiJmAQAAYCxiFgAAAMYiZgEAAGAsYhYAAADGImYBAABgLGIWAAAAxiJmAeA2tWHDBtlsNp09e7bI+4SFhSkpKanE1gQAxY2YBQA3GTBggGw2m5555hmnbcOHD5fNZtOAAQNKf2EAYBBiFgDcKDQ0VIsXL9aFCxfsYz///LMWLlyoO+64w40rAwAzELMA4EbNmzdXaGioli9fbh9bvny57rjjDjVr1sw+lpubq1GjRqlKlSry8/NTu3bttGXLFofnWr16te688075+/urQ4cOOnLkiNPrffnll2rfvr38/f0VGhqqUaNGKScnp8SODwBKGjELAG42aNAgzZs3z/7z3LlzNXDgQIc5f/jDH7Rs2TItWLBA27dvV7169RQdHa0zZ85Iko4fP64ePXqoS5cuSktL09NPP61x48Y5PMfBgwf18MMPq2fPntq5c6dSUlL05ZdfasSIESV/kABQQohZAHCzJ598Ul9++aWOHj2qo0eP6t///reefPJJ+/acnBzNmjVLf/zjH9WpUyc1btxYH3zwgfz9/TVnzhxJ0qxZs1S3bl1NnTpVDRo00BNPPOF0vW1iYqKeeOIJjRkzRvXr11fbtm01bdo0/eUvf9HPP/9cmocMAMXGy90LAIDfusqVK6tz586aP3++LMtS586dFRwcbN9+8OBBXbp0Sffcc499zNvbW61bt9bevXslSXv37lVERITD80ZGRjr8/O2332rnzp1KTk62j1mWpfz8fB0+fFiNGjUqicMDgBJFzALALWDQoEH2j/tnzJhRIq9x7tw5/f73v9eoUaOctvFlMwCmImYB4Bbw8MMP6+LFi7LZbIqOjnbYVrduXfn4+Ojf//63atWqJUm6dOmStmzZojFjxkiSGjVqpJUrVzrs9/XXXzv83Lx5c+3Zs0f16tUruQMBgFLGNbMAcAvw9PTU3r17tWfPHnl6ejpsK1u2rIYNG6YXX3xRa9as0Z49ezRkyBCdP39egwcPliQ988wz+v777/Xiiy9q3759WrhwoebPn+/wPGPHjtVXX32lESNGKC0tTd9//70+/fRTvgAGwGjELADcIgICAhQQEFDgtilTpqhnz5566qmn1Lx5cx04cEBr165VUFCQpCuXCSxbtkwrVqxQeHi4Zs+erTfeeMPhOZo0aaJ//vOf2r9/v9q3b69mzZppwoQJql69eokfGwCUFJtlWZa7FwEAAADcCM7MAgAAwFjELAAAAIxFzAIAAMBYxCwAAACMRcwCAADAWMQsAAAAjEXMAgAAwFjELAAAAIxFzAIAAMBYxCwAAACMRcwCAADAWP8Pniw28lt/r9gAAAAASUVORK5CYII="/>
          <p:cNvSpPr>
            <a:spLocks noChangeAspect="1" noChangeArrowheads="1"/>
          </p:cNvSpPr>
          <p:nvPr/>
        </p:nvSpPr>
        <p:spPr bwMode="auto">
          <a:xfrm>
            <a:off x="168086" y="-1063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data:image/png;base64,iVBORw0KGgoAAAANSUhEUgAAArMAAAIjCAYAAAAQgZNYAAAAOXRFWHRTb2Z0d2FyZQBNYXRwbG90bGliIHZlcnNpb24zLjcuNSwgaHR0cHM6Ly9tYXRwbG90bGliLm9yZy/xnp5ZAAAACXBIWXMAAA9hAAAPYQGoP6dpAAA5sElEQVR4nO3deVhVdeLH8c9lxwVEUdxI3HKZEnfEtLIwMtPc0Rbc0slcoxqlTDQrrMmGzG0qt5lQySVz0tEx0nGaLFdSR9PcrRHU/AmIhgrn94ePd7pdUK4C16+9X89znye+53vu/R6r+7w999yDzbIsSwAAAICBPNy9AAAAAOBGEbMAAAAwFjELAAAAYxGzAAAAMBYxCwAAAGMRswAAADAWMQsAAABjEbMAAAAwFjELAAAAYxGzAGCIjIwM9erVS5UqVZLNZlNSUpK7lwQAbkfMAigWM2fOlM1mU0REhLuXctt67rnntHbtWsXHx+uvf/2rHn744QLnrVu3TjabTZMmTXLadvjwYZUpU0a9evVy2vavf/1Lffr0UY0aNeTj46PAwEBFRETo1VdfVUZGhsPc+++/Xzabzf7w8fFR7dq1NXToUB0/frx4DvgmbNiwQTabTUuXLr3u3NzcXL333ntq166dgoKC5OPjo+rVq6tr165atGiR8vLy7HOPHDnicNw2m00BAQFq2rSppk+f7jAXQOnwcvcCANwekpOTFRYWps2bN+vAgQOqV6+eu5d02/niiy/02GOP6YUXXrjmvI4dO+rxxx9XYmKi+vXrpzvvvNO+7dlnn5W3t7emTZvmsM+ECRM0efJk1alTRwMGDFCdOnX0888/a9u2bZo6daoWLFiggwcPOuxTs2ZNJSYmSpIuXryoPXv2aPbs2Vq7dq327t2rMmXKFNORl5xTp06pU6dO2rZtm6KjozV+/HhVrFhR6enp+vzzz/X444/rwIEDeuWVVxz269evnx555BFJUmZmplavXq2RI0fq6NGj+uMf/+iOQwF+uywAuEmHDh2yJFnLly+3KleubE2cONHdSyrUuXPn3L2EG2az2azhw4cXaW5GRoYVFBRkdejQwT62aNEiS5I1bdo0h7mLFy+2JFl9+vSxcnNznZ7r7NmzVkJCgsPYfffdZ/3ud79zmjt9+nRLkvWPf/yjSOssKevXr7ckWUuWLLnmvOjoaMvDw8NatmxZgdu3bNliffTRR/afDx8+bEmy/vjHPzrMy8/Pt1q1amVVr1795hcPwCVcZgDgpiUnJysoKEidO3dWr169lJycXOC8s2fP6rnnnlNYWJh8fX1Vs2ZNxcbG6vTp0/Y5P//8syZOnKg777xTfn5+qlatmnr06GE/K3j14+MNGzY4PPfVj3/nz59vHxswYIDKlSungwcP6pFHHlH58uX1xBNPSLrykXrv3r11xx13yNfXV6GhoXruued04cIFp3V/99136tOnjypXrix/f381aNBAL7/8siRp/fr1stls+uSTT5z2W7hwoWw2mzZt2nTNP79Dhw6pd+/eqlixosqUKaM2bdpo1apV9u3z58+XzWaTZVmaMWOG/ePta6lSpYrefPNNrV+/XgsWLLD/2bdq1UrDhw93mDthwgQFBwdrzpw58vHxcXquwMBATZw48Zqvd1XVqlUlSV5ehX/wl5GRIS8vrwIvg9i3b59sNpumT58uSbp06ZImTZqk+vXry8/PT5UqVVK7du20bt26Iq3nWjZt2qS1a9dq6NCh6tGjR4FzWrZsaf9v5lpsNptCQkKuedwASgb/1wG4acnJyerRo4d8fHzUr18/zZo1S1u2bFGrVq3sc86dO6f27dtr7969GjRokJo3b67Tp09r5cqV+uGHHxQcHKy8vDw9+uijSk1NVd++fTV69GhlZ2dr3bp12r17t+rWrevy2i5fvqzo6Gi1a9dOb7/9tv2j7yVLluj8+fMaNmyYKlWqpM2bN+u9997TDz/8oCVLltj337lzp9q3by9vb28NHTpUYWFhOnjwoP72t7/p9ddf1/3336/Q0FAlJyere/fuTn8udevWVWRkZKHry8jIUNu2bXX+/HmNGjVKlSpV0oIFC9S1a1ctXbpU3bt317333qu//vWveuqpp9SxY0fFxsYW6diffvppLViwQC+88ILWrl2rU6dOafXq1fLw+N95jP3792v//v16+umnVa5cOVf+aJWXl2f/i8ilS5e0d+9eJSQkqF69errnnnsK3S8kJET33XefPv74YyUkJDhsS0lJkaenp3r37i1JmjhxohITE/X000+rdevWysrK0tatW7V9+3Z17NjRpfX+2t/+9jdJ0pNPPunyvufPn7cfe1ZWlv7+979rzZo1io+Pv6k1AbgB7j41DMBsW7dutSRZ69atsyzrysetNWvWtEaPHu0wb8KECfZLEX4tPz/fsizLmjt3riXJeueddwqdc/Xj4/Xr1ztsv/rx77x58+xj/fv3tyRZ48aNc3q+8+fPO40lJiZaNpvNOnr0qH3s3nvvtcqXL+8w9sv1WJZlxcfHW76+vtbZs2ftYydPnrS8vLycPp7/tTFjxliSrH/961/2sezsbKt27dpWWFiYlZeXZx+XVOTLDK7avXu35e3tbUmyxowZ47T9008/tSRZSUlJTsd36tQph8elS5fs2++77z5LktOjUaNG1qFDh667rj//+c+WJGvXrl0O440bN7YeeOAB+8/h4eFW586dXTpmyyraZQbdu3e3JDn8e7Msy7pw4YLDcf/f//2ffdvV/84KegwbNszhvwsApYPLDADclOTkZIWEhKhDhw6SrnzcGhMTo8WLFzt8s3vZsmUKDw93Ont5dZ+rc4KDgzVy5MhC59yIYcOGOY35+/vb/zknJ0enT59W27ZtZVmWduzYIenKl4M2btyoQYMG6Y477ih0PbGxscrNzXX45nxKSoouX7583bN+q1evVuvWrdWuXTv7WLly5TR06FAdOXJEe/bsce1gfyUgIMB+6cBDDz3ktD0rK8v+mr+UmZmpypUrOzzS0tIc5oSFhWndunVat26d/v73vyspKUmZmZnq1KmTTp06dc119ejRQ15eXkpJSbGP7d69W3v27FFMTIx9rEKFCvrPf/6j77//3qXjLorCjn327NkOx/3LfzdXDR061H7sy5Yt0/Dhw/XnP/9ZcXFxxb5OANdGzAK4YXl5eVq8eLE6dOigw4cP68CBAzpw4IAiIiKUkZGh1NRU+9yDBw/qrrvuuubzHTx4UA0aNCjW6w69vLxUs2ZNp/Fjx45pwIABqlixosqVK6fKlSvrvvvuk3Ql5KQr17JKuu66GzZsqFatWjlcK5ycnKw2bdpc964OR48eVYMGDZzGGzVqZN9+M0aMGCEPDw/VqlVLzz//vC5duuSwvXz58pKuXAbyS+XKlbPH2osvvljgc5ctW1ZRUVGKiorSww8/rNGjR2vlypXat2+fpkyZcs11BQcH68EHH9THH39sH0tJSZGXl5fD9auvvvqqzp49qzvvvFN33323XnzxRe3cudOlP4PCFHbsPXv2tB97kyZNCty3fv369mPv0aOHpk+frmeffVZJSUnatWtXsawPQNEQswBu2BdffKETJ05o8eLFql+/vv3Rp08fSSr0i2A3o7AztIXd39PX19fhGtGrczt27KhVq1Zp7NixWrFihdatW2f/8lh+fr7L64qNjdU///lP/fDDDzp48KC+/vrrG7oWszgtX75cK1eu1OTJkzVz5kzt3bvX6bZRDRs2lHTlrOgveXl52WOtcePGRX7NFi1aKDAwUBs3brzu3L59+2r//v32M74ff/yxHnzwQQUHB9vn3HvvvTp48KDmzp2ru+66Sx9++KGaN2+uDz/8sMhrKkxhxx4aGmo/9qCgoCI/34MPPihJRTp2AMWHmAVww5KTk1WlShUtWbLE6dGvXz998skn9rsD1K1b1ykafq1u3brat2+f09nDX7oaF2fPnnUYd+UM5q5du7R//35NnTpVY8eO1WOPPaaoqChVr17dYV6dOnUkOcdOQfr27StPT08tWrRIycnJ8vb2dvi4vDC1atXSvn37nMa/++47+/YbkZ2drVGjRql58+YaMWKEHnnkEfXs2VOvvfaaDh8+bJ/XoEED1a9fXytWrFBOTs4Nvdav5eXlOZ3tLEi3bt3k4+OjlJQUpaWlaf/+/erbt6/TvIoVK2rgwIFatGiRjh8/riZNmhT57grX8uijj0oqvr90Xb58WZLzmV4AJYuYBXBDLly4oOXLl+vRRx9Vr169nB4jRoxQdna2Vq5cKenKR7fffvttgbewsizLPuf06dP22zIVNKdWrVry9PR0Ovs1c+bMIq/d09PT4Tmv/vO7777rMK9y5cq69957NXfuXB07dqzA9VwVHBysTp066aOPPlJycrIefvhhhzOMhXnkkUe0efNmh9t35eTk6P3331dYWJhLZ0V/afz48Tpx4oT+/Oc/24/33Xfflaenp0aMGOEwd+LEiTp9+rSGDBlS4F8kfn2s17J+/XqdO3dO4eHh151boUIFRUdH6+OPP9bixYvl4+Ojbt26Ocz56aefHH4uV66c6tWrp9zc3CKvqTD33HOPOnbsqPfff1+ffvppgXNcOfard0coyrEDKD7cmgvADVm5cqWys7PVtWvXAre3adNGlStXVnJysmJiYvTiiy9q6dKl6t27twYNGqQWLVrozJkzWrlypWbPnq3w8HDFxsbqL3/5i+Li4rR582a1b99eOTk5+vzzz/Xss8/qscceU2BgoHr37q333ntPNptNdevW1WeffaaTJ08Wee0NGzZU3bp19cILL+jHH39UQECAli1bpv/7v/9zmjtt2jS1a9dOzZs319ChQ1W7dm0dOXJEq1atcvpCVGxsrP3XxE6ePLlIaxk3bpwWLVqkTp06adSoUapYsaIWLFigw4cPa9myZU6XSBTFtm3bNGPGDA0fPlwtW7a0j9eoUUOvvvqq4uLitGzZMvXs2VOS9Pjjj2v37t1KTEzU5s2b1bdvX9WuXVs5OTnavXu3Fi1apPLlyzt95J6ZmamPPvpI0pWzkvv27dOsWbPk7++vcePGFWmtMTExevLJJzVz5kxFR0erQoUKDtsbN26s+++/Xy1atFDFihW1detWLV261CnIC7Ns2TL7We5f6t+/v0JDQ/XRRx/p4YcfVrdu3dSpUyf7pQVXfwPYxo0b1alTJ6f9t2/fbj/27OxspaamatmyZWrbtm2BX7QDUILcdyMFACbr0qWL5efnZ+Xk5BQ6Z8CAAZa3t7d1+vRpy7Is66effrJGjBhh1ahRw/Lx8bFq1qxp9e/f377dsq7cMuvll1+2ateubXl7e1tVq1a1evXqZR08eNA+59SpU1bPnj2tMmXKWEFBQdbvf/97a/fu3QXemqts2bIFrm3Pnj1WVFSUVa5cOSs4ONgaMmSI9e233zo9h2Vdub1V9+7drQoVKlh+fn5WgwYNrFdeecXpOXNzc62goCArMDDQunDhQlH+GC3LsqyDBw9avXr1sj9/69atrc8++8xpnopwa67Lly9bzZs3t6pXr25lZmYWuL1p06ZWzZo1rezsbIdtGzZssHr16mVVq1bN8vb2tgICAqyWLVtaCQkJ1okTJxzm/vrWXDabzapYsaLVtWtXa9u2bUU+9qysLMvf39+S5PCbtq567bXXrNatW1sVKlSw/P39rYYNG1qvv/66dfHixWs+79VbcxX2+OWt0C5cuGAlJSVZkZGRVkBAgOXl5WVVrVrVevTRR63k5GTr8uXL9rkF3ZrLy8vLqlOnjvXiiy86/ZkCKHk2y3LhMxQAQKEuX76s6tWrq0uXLpozZ467lwMAvwlcMwsAxWTFihU6depUkX9DFwDg5nFmFgBu0jfffKOdO3dq8uTJCg4O1vbt2929JAD4zeDMLADcpFmzZmnYsGGqUqWK/vKXv7h7OQDwm+LWmN24caO6dOmi6tWry2azacWKFdfdZ8OGDWrevLl8fX1Vr149+03OAcBd5s+fr8uXL2vr1q3X/W1hAIDi5daYzcnJUXh4uGbMmFGk+YcPH1bnzp3VoUMHpaWlacyYMXr66ae1du3aEl4pAAAAbkW3zDWzNptNn3zyidMNs39p7NixWrVqlcNv4+nbt6/Onj2rNWvWlMIqAQAAcCsx6pcmbNq0SVFRUQ5j0dHRGjNmTKH75ObmOvymmPz8fJ05c0aVKlUq9He8AwAAwH0sy1J2draqV69+3V8eY1TMpqenKyQkxGEsJCREWVlZunDhgvz9/Z32SUxM1KRJk0priQAAACgmx48fV82aNa85x6iYvRHx8fGKi4uz/5yZmak77rhDx48fV0BAgBtXBgAAgIJkZWUpNDRU5cuXv+5co2K2atWqysjIcBjLyMhQQEBAgWdlJcnX11e+vr5O4wEBAcQsAADALawol4QadZ/ZyMhIpaamOoytW7dOkZGRbloRAAAA3MmtMXvu3DmlpaUpLS1N0pVbb6WlpenYsWOSrlwi8MtfC/nMM8/o0KFD+sMf/qDvvvtOM2fO1Mcff6znnnvOHcsHAACAm7k1Zrdu3apmzZqpWbNmkqS4uDg1a9ZMEyZMkCSdOHHCHraSVLt2ba1atUrr1q1TeHi4pk6dqg8//FDR0dFuWT8AAADc65a5z2xpycrKUmBgoDIzM7lmFgAA4BbkSq8Zdc0sAAAA8EvELAAAAIxFzAIAAMBYxCwAAACMZdQvTQAA3JqKcF9zAIa7VW8ZQMyWAtsk3uWB3wIr4RZ9pweA2xiXGQA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MQsAAAAjEXMAgAAwFjELAAAAIxFzAIAAMBYxCwAAACMRcwCAADAWG6P2RkzZigsLEx+fn6KiIjQ5s2brzk/KSlJDRo0kL+/v0JDQ/Xcc8/p559/LqXVAgAA4Fbi1phNSUlRXFycEhIStH37doWHhys6OlonT54scP7ChQs1btw4JSQkaO/evZozZ45SUlL00ksvlfLKAQAAcCtwa8y+8847GjJkiAYOHKjGjRtr9uzZKlOmjObOnVvg/K+++kr33HOPHn/8cYWFhemhhx5Sv379rns2FwAAALcnt8XsxYsXtW3bNkVFRf1vMR4eioqK0qZNmwrcp23bttq2bZs9Xg8dOqTVq1frkUceKfR1cnNzlZWV5fAAAADA7cHLXS98+vRp5eXlKSQkxGE8JCRE3333XYH7PP744zp9+rTatWsny7J0+fJlPfPMM9e8zCAxMVGTJk0q1rUDAADg1uD2L4C5YsOGDXrjjTc0c+ZMbd++XcuXL9eqVas0efLkQveJj49XZmam/XH8+PFSXDEAAABKktvOzAYHB8vT01MZGRkO4xkZGapatWqB+7zyyit66qmn9PTTT0uS7r77buXk5Gjo0KF6+eWX5eHh3Oa+vr7y9fUt/gMAAACA27ntzKyPj49atGih1NRU+1h+fr5SU1MVGRlZ4D7nz593ClZPT09JkmVZJbdYAAAA3JLcdmZWkuLi4tS/f3+1bNlSrVu3VlJSknJycjRw4EBJUmxsrGrUqKHExERJUpcuXfTOO++oWbNmioiI0IEDB/TKK6+oS5cu9qgFAADAb4dbYzYmJkanTp3ShAkTlJ6erqZNm2rNmjX2L4UdO3bM4Uzs+PHjZbPZNH78eP3444+qXLmyunTpotdff91dhwAAAAA3slm/sc/ns7KyFBgYqMzMTAUEBJTKa9om2UrldQC4l5Xwm3o7dWDjbQ647ZVmMbrSa0bdzQAAAAD4JW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YiZgEAAGAsYhYAAADGImYBAABgLGIWAAAAxiJmAQAAYCxiFgAAAMZye8zOmDFDYWFh8vPzU0REhDZv3nzN+WfPntXw4cNVrVo1+fr66s4779Tq1atLabUAAAC4lXi588VTUlIUFxen2bNnKyIiQklJSYqOjta+fftUpUoVp/kXL15Ux44dVaVKFS1dulQ1atTQ0aNHVaFChdJfPAAAANzOrTH7zjvvaMiQIRo4cKAkafbs2Vq1apXmzp2rcePGOc2fO3euzpw5o6+++kre3t6SpLCwsNJcMgAAAG4hbrvM4OLFi9q2bZuioqL+txgPD0VFRWnTpk0F7rNy5UpFRkZq+PDhCgkJ0V133aU33nhDeXl5hb5Obm6usrKyHB4AAAC4PbgtZk+fPq28vDyFhIQ4jIeEhCg9Pb3AfQ4dOqSlS5cqLy9Pq1ev1iuvvKKpU6fqtddeK/R1EhMTFRgYaH+EhoYW63EAAADAfdz+BTBX5Ofnq0qVKnr//ffVokULxcTE6OWXX9bs2bML3Sc+Pl6ZmZn2x/Hjx0txxQAAAChJbrtmNjg4WJ6ensrIyHAYz8jIUNWqVQvcp1q1avL29panp6d9rFGjRkpPT9fFixfl4+PjtI+vr698fX2Ld/EAAAC4JbjtzKyPj49atGih1NRU+1h+fr5SU1MVGRlZ4D733HOPDhw4oPz8fPvY/v37Va1atQJDFgAAALc3t15mEBcXpw8++EALFizQ3r17NWzYMOXk5NjvbhAbG6v4+Hj7/GHDhunMmTMaPXq09u/fr1WrVumNN97Q8OHD3XUIAAAAcCO33porJiZGp06d0oQJE5Senq6mTZtqzZo19i+FHTt2TB4e/+vt0NBQrV27Vs8995yaNGmiGjVqaPTo0Ro7dqy7DgEAAABuZLMsy3L3IkpTVlaWAgMDlZmZqYCAgFJ5TdskW6m8DgD3shJ+U2+nDmy8zQG3vdIsRld6zai7GQAAAAC/RMwCAADAWMQsAAAAjEXMAgAAwFjELAAAAIxFzAIAAMBYxCwAAACMRcwCAADAWMQsAAAAjEXMAgAAwFgux2xYWJheffVVHTt2rCTWAwAAABSZyzE7ZswYLV++XHXq1FHHjh21ePFi5ebmlsTaAAAAgGu6oZhNS0vT5s2b1ahRI40cOVLVqlXTiBEjtH379pJYIwAAAFCgG75mtnnz5po2bZr++9//KiEhQR9++KFatWqlpk2bau7cubIsqzjXCQAAADjxutEdL126pE8++UTz5s3TunXr1KZNGw0ePFg//PCDXnrpJX3++edauHBhca4VAAAAcOByzG7fvl3z5s3TokWL5OHhodjYWP3pT39Sw4YN7XO6d++uVq1aFetCAQAAgF9zOWZbtWqljh07atasWerWrZu8vb2d5tSuXVt9+/YtlgUCAAAAhXE5Zg8dOqRatWpdc07ZsmU1b968G14UAAAAUBQufwHs5MmT+uabb5zGv/nmG23durVYFgUAAAAUhcsxO3z4cB0/ftxp/Mcff9Tw4cOLZVEAAABAUbgcs3v27FHz5s2dxps1a6Y9e/YUy6IAAACAonA5Zn19fZWRkeE0fuLECXl53fCdvgAAAACXuRyzDz30kOLj45WZmWkfO3v2rF566SV17NixWBcHAAAAXIvLp1Lffvtt3XvvvapVq5aaNWsmSUpLS1NISIj++te/FvsCAQAAgMK4HLM1atTQzp07lZycrG+//Vb+/v4aOHCg+vXrV+A9ZwEAAICSckMXuZYtW1ZDhw4t7rUAAAAALrnhb2zt2bNHx44d08WLFx3Gu3btetOLAgAAAIrihn4DWPfu3bVr1y7ZbDZZliVJstlskqS8vLziXSEAAABQCJfvZjB69GjVrl1bJ0+eVJkyZfSf//xHGzduVMuWLbVhw4YSWCIAAABQMJfPzG7atElffPGFgoOD5eHhIQ8PD7Vr106JiYkaNWqUduzYURLrBAAAAJy4fGY2Ly9P5cuXlyQFBwfrv//9rySpVq1a2rdvX/GuDgAAALgGl8/M3nXXXfr2229Vu3ZtRURE6K233pKPj4/ef/991alTpyTWCAAAABTI5ZgdP368cnJyJEmvvvqqHn30UbVv316VKlVSSkpKsS8QAAAAKIzLMRsdHW3/53r16um7777TmTNnFBQUZL+jAQAAAFAaXLpm9tKlS/Ly8tLu3bsdxitWrEjIAgAAoNS5FLPe3t664447uJcsAAAAbgku383g5Zdf1ksvvaQzZ86UxHoAAACAInP5mtnp06frwIEDql69umrVqqWyZcs6bN++fXuxLQ4AAAC4Fpdjtlu3biWwDAAAAMB1LsdsQkJCSawDAAAAcJnL18wCAAAAtwqXz8x6eHhc8zZc3OkAAAAApcXlmP3kk08cfr506ZJ27NihBQsWaNKkScW2MAAAAOB6XI7Zxx57zGmsV69e+t3vfqeUlBQNHjy4WBYGAAAAXE+xXTPbpk0bpaamFtfTAQAAANdVLDF74cIFTZs2TTVq1CiOpwMAAACKxOXLDIKCghy+AGZZlrKzs1WmTBl99NFHxbo4AAAA4Fpcjtk//elPDjHr4eGhypUrKyIiQkFBQcW6OAAAAOBaXI7ZAQMGlMAyAAAAANe5fM3svHnztGTJEqfxJUuWaMGCBcWyKAAAAKAoXI7ZxMREBQcHO41XqVJFb7zxRrEsCgAAACgKl2P22LFjql27ttN4rVq1dOzYsWJZFAAAAFAULsdslSpVtHPnTqfxb7/9VpUqVSqWRQEAAABF4XLM9uvXT6NGjdL69euVl5envLw8ffHFFxo9erT69u1bEmsEAAAACuTy3QwmT56sI0eO6MEHH5SX15Xd8/PzFRsbyzWzAAAAKFUux6yPj49SUlL02muvKS0tTf7+/rr77rtVq1atklgfAAAAUCiXY/aq+vXrq379+sW5FgAAAMAlLl8z27NnT7355ptO42+99ZZ69+5dLIsCAAAAisLlmN24caMeeeQRp/FOnTpp48aNxbIoAAAAoChcjtlz587Jx8fHadzb21tZWVnFsigAAACgKFyO2bvvvlspKSlO44sXL1bjxo2LZVEAAABAUbj8BbBXXnlFPXr00MGDB/XAAw9IklJTU7Vw4UItXbq02BcIAAAAFMblmO3SpYtWrFihN954Q0uXLpW/v7/Cw8P1xRdfqGLFiiWxRgAAAKBAN3Rrrs6dO6tz586SpKysLC1atEgvvPCCtm3bpry8vGJdIAAAAFAYl6+ZvWrjxo3q37+/qlevrqlTp+qBBx7Q119/XZxrAwAAAK7JpTOz6enpmj9/vubMmaOsrCz16dNHubm5WrFiBV/+AgAAQKkr8pnZLl26qEGDBtq5c6eSkpL03//+V++9915Jrg0AAAC4piKfmf373/+uUaNGadiwYfwaWwAAANwSinxm9ssvv1R2drZatGihiIgITZ8+XadPny7JtQEAAADXVOSYbdOmjT744AOdOHFCv//977V48WJVr15d+fn5WrdunbKzs0tynQAAAIATl+9mULZsWQ0aNEhffvmldu3apeeff15TpkxRlSpV1LVr15JYIwAAAFCgG741lyQ1aNBAb731ln744QctWrSouNYEAAAAFMlNxexVnp6e6tatm1auXFkcTwcAAAAUSbHELAAAAOAOxCwAAACMRcwCAADAWMQsAAAAjEXMAgAAwFjELAAAAIxFzAIAAMBYxCwAAACMdUvE7IwZMxQWFiY/Pz9FRERo8+bNRdpv8eLFstls6tatW8kuEAAAALckt8dsSkqK4uLilJCQoO3btys8PFzR0dE6efLkNfc7cuSIXnjhBbVv376UVgoAAIBbjdtj9p133tGQIUM0cOBANW7cWLNnz1aZMmU0d+7cQvfJy8vTE088oUmTJqlOnTqluFoAAADcStwasxcvXtS2bdsUFRVlH/Pw8FBUVJQ2bdpU6H6vvvqqqlSposGDB1/3NXJzc5WVleXwAAAAwO3BrTF7+vRp5eXlKSQkxGE8JCRE6enpBe7z5Zdfas6cOfrggw+K9BqJiYkKDAy0P0JDQ2963QAAALg1uP0yA1dkZ2frqaee0gcffKDg4OAi7RMfH6/MzEz74/jx4yW8SgAAAJQWL3e+eHBwsDw9PZWRkeEwnpGRoapVqzrNP3jwoI4cOaIuXbrYx/Lz8yVJXl5e2rdvn+rWreuwj6+vr3x9fUtg9QAAAHA3t56Z9fHxUYsWLZSammofy8/PV2pqqiIjI53mN2zYULt27VJaWpr90bVrV3Xo0EFpaWlcQgAAAPAb49Yzs5IUFxen/v37q2XLlmrdurWSkpKUk5OjgQMHSpJiY2NVo0YNJSYmys/PT3fddZfD/hUqVJAkp3EAAADc/tweszExMTp16pQmTJig9PR0NW3aVGvWrLF/KezYsWPy8DDq0l4AAACUEptlWZa7F1GasrKyFBgYqMzMTAUEBJTKa9om2UrldQC4l5Xwm3o7dWDjbQ647ZVmMbrSa5zyBA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bomYnTFjhsLCwuTn56eIiAht3ry50LkffPCB2rdvr6CgIAUFBSkqKuqa8wEAAHD7cnvMpqSkKC4uTgkJCdq+fbvCw8MVHR2tkydPFjh/w4YN6tevn9avX69NmzYpNDRUDz30kH788cdSXjkAAADczWZZluXOBURERKhVq1aaPn26JCk/P1+hoaEaOXKkxo0bd9398/LyFBQUpOnTpys2Nva687OyshQYGKjMzEwFBATc9PqLwjbJViqvA8C9rAS3vp26lY23OeC2V5rF6EqvufXM7MWLF7Vt2zZFRUXZxzw8PBQVFaVNmzYV6TnOnz+vS5cuqWLFigVuz83NVVZWlsMDAAAAtwe3xuzp06eVl5enkJAQh/GQkBClp6cX6TnGjh2r6tWrOwTxLyUmJiowMND+CA0Nvel1AwAA4Nbg9mtmb8aUKVO0ePFiffLJJ/Lz8ytwTnx8vDIzM+2P48ePl/IqAQAAUFK83PniwcHB8vT0VEZGhsN4RkaGqlates193377bU2ZMkWff/65mjRpUug8X19f+fr6Fst6AQAAcGtx65lZHx8ftWjRQqmpqfax/Px8paamKjIystD93nrrLU2ePFlr1qxRy5YtS2OpAAAAuAW59cysJMXFxal///5q2bKlWrduraSkJOXk5GjgwIGSpNjYWNWoUUOJiYmSpDfffFMTJkzQwoULFRYWZr+2tly5cipXrpzbjgMAAAClz+0xGxMTo1OnTmnChAlKT09X06ZNtWbNGvuXwo4dOyYPj/+dQJ41a5YuXryoXr16OTxPQkKCJk6cWJpLBwAAgJu5/T6zpY37zAIoKdxnFsDtjPvMAgAAAMWM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YhZAAAAGIuYBQAAgLGIWQAAABiLmAUAAICxiFkAAAAYi5gFAACAsW6JmJ0xY4bCwsLk5+eniIgIbd68+ZrzlyxZooYNG8rPz0933323Vq9eXUorBQAAwK3E7TGbkpKiuLg4JSQkaPv27QoPD1d0dLROnjxZ4PyvvvpK/fr10+DBg7Vjxw5169ZN3bp10+7du0t55QAAAHA3m2VZljsXEBERoVatWmn69OmSpPz8fIWGhmrkyJEaN26c0/yYmBjl5OTos88+s4+1adNGTZs21ezZs6/7ellZWQoMDFRmZqYCAgKK70CuwTbJViqvA8C9rAS3vp26lY23OeC2V5rF6EqveZXSmgp08eJFbdu2TfHx8fYxDw8PRUVFadOmTQXus2nTJsXFxTmMRUdHa8WKFQXOz83NVW5urv3nzMxMSVf+kErNz6X3UgDcp1TfVwCglJXmW9zV99OinHN1a8yePn1aeXl5CgkJcRgPCQnRd999V+A+6enpBc5PT08vcH5iYqImTZrkNB4aGnqDqwaAggVOCXT3EgCgxAS64S0uOztbgdd5YbfGbGmIj493OJObn5+vM2fOqFKlSrLxuRhKSFZWlkJDQ3X8+PFSu5wFAEoL73EoaZZlKTs7W9WrV7/uXLfGbHBwsDw9PZWRkeEwnpGRoapVqxa4T9WqVV2a7+vrK19fX4exChUq3PiiARcEBATwRg/gtsV7HErS9c7IXuXWuxn4+PioRYsWSk1NtY/l5+crNTVVkZGRBe4TGRnpMF+S1q1bV+h8AAAA3L7cfplBXFyc+vfvr5YtW6p169ZKSkpSTk6OBg4cKEmKjY1VjRo1lJiYKEkaPXq07rvvPk2dOlWdO3fW4sWLtXXrVr3//vvuPAwAAAC4gdtjNiYmRqdOndKECROUnp6upk2bas2aNfYveR07dkweHv87gdy2bVstXLhQ48eP10svvaT69etrxYoVuuuuu9x1CIATX19fJSQkOF3iAgC3A97jcCtx+31mAQAAgBvl9t8ABgAAANwoYhYAAADGImYBAABgLGIWAAAAxiJmgWvIy8tT27Zt1aNHD4fxzMxMhYaG6uWXX7aPLVu2TA888ICCgoLk7++vBg0aaNCgQdqxY4d9zvz582Wz2eyPcuXKqUWLFlq+fHmpHRMA/NqAAQPUrVu3Qrfv2LFDMTExqlatmnx9fVWrVi09+uij+tvf/qar3yM/cuSIw/ubj4+P6tWrp9dee0181xwliZgFrsHT01Pz58/XmjVrlJycbB8fOXKkKlasqISEBEnS2LFjFRMTo6ZNm2rlypXat2+fFi5cqDp16ig+Pt7hOQMCAnTixAmdOHFCO3bsUHR0tPr06aN9+/aV6rEBQFF8+umnatOmjc6dO6cFCxZo7969WrNmjbp3767x48crMzPTYf7nn3+uEydO6Pvvv9ekSZP0+uuva+7cuW5aPX4LuDUXUATTpk3TxIkT9Z///EebN29W7969tWXLFoWHh+vrr79WZGSk3n33XY0aNcppX8uyZLPZJF05MztmzBidPXvWvj0/P19+fn5KTk5W7969S+uQAMBuwIABOnv2rFasWOEwnpOTo1q1aunee+8t9BOkq+9xR44cUe3atbVjxw41bdrUvj0qKkoNGjTQjBkzSvAI8FvGmVmgCEaOHKnw8HA99dRTGjp0qCZMmKDw8HBJ0qJFi1SuXDk9++yzBe57NWQLkpeXpwULFkiSmjdvXvwLB4Cb8I9//EM//fST/vCHPxQ651rvcVu3btW2bdsUERFREssDJBGzQJHYbDbNmjVLqampCgkJ0bhx4+zb9u/frzp16sjL63+/UO+dd95RuXLl7I9ffgyXmZlpH/fx8dGwYcP0/vvvq27duqV6TABwPfv375ckNWjQwD62ZcsWh/e3zz77zGGftm3b2t/fWrVqpT59+ig2NrZU143fFrf/OlvAFHPnzlWZMmV0+PBh/fDDDwoLCyt07qBBg9S1a1d98803evLJJx2+/FC+fHlt375dknT+/Hl9/vnneuaZZ1SpUiV16dKlpA8DAG5KkyZNlJaWJkmqX7++Ll++7LA9JSVFjRo10qVLl7R7926NHDlSQUFBmjJlihtWi98CzswCRfDVV1/pT3/6kz777DO1bt1agwcPtgdq/fr1dejQIV26dMk+v0KFCqpXr55q1Kjh9FweHh6qV6+e6tWrpyZNmiguLk7333+/3nzzzVI7HgAoivr160uSwxdUfX197e9hBQkNDVW9evXUqFEj9e7dW2PGjNHUqVP1888/l8qa8dtDzALXcf78eQ0YMEDDhg1Thw4dNGfOHG3evFmzZ8+WJPXr10/nzp3TzJkzb/g1PD09deHCheJaMgAUi4ceekgVK1a8qb9se3p66vLly7p48WIxrgz4Hy4zAK4jPj5elmXZPyILCwvT22+/rRdeeEGdOnVSZGSknn/+eT3//PM6evSoevToodDQUJ04cUJz5syRzWaTh8f//t5oWZbS09MlSRcuXNC6deu0du1aTZgwwS3HBwDSlev5r14+cFWlSpX04YcfKiYmRp07d9aoUaNUv359nTt3TmvWrJF0JVZ/6aefflJ6erouX76sXbt26d1331WHDh0UEBBQWoeC3xoLQKE2bNhgeXp6Wv/617+ctj300EPWAw88YOXn51uWZVkpKSnW/fffbwUGBlre3t5WzZo1rccff9z6+uuv7fvMmzfPkmR/+Pr6Wnfeeaf1+uuvW5cvXy614wKAX+rfv7/De9PVx+DBgy3LsqwtW7ZYvXr1sqpUqWJ5eXlZlSpVsqKjo63Fixfb3wMPHz7ssK+np6dVs2ZNa8iQIdbJkyfdeXi4zXGfWQAAABiLa2YBAABgLGIWAAAAxiJmAQAAYCxiFgAAAMYiZgEAAGAsYhYAAADGImYBAABgLGIWAAAAxiJmAeA2tWHDBtlsNp09e7bI+4SFhSkpKanE1gQAxY2YBQA3GTBggGw2m5555hmnbcOHD5fNZtOAAQNKf2EAYBBiFgDcKDQ0VIsXL9aFCxfsYz///LMWLlyoO+64w40rAwAzELMA4EbNmzdXaGioli9fbh9bvny57rjjDjVr1sw+lpubq1GjRqlKlSry8/NTu3bttGXLFofnWr16te688075+/urQ4cOOnLkiNPrffnll2rfvr38/f0VGhqqUaNGKScnp8SODwBKGjELAG42aNAgzZs3z/7z3LlzNXDgQIc5f/jDH7Rs2TItWLBA27dvV7169RQdHa0zZ85Iko4fP64ePXqoS5cuSktL09NPP61x48Y5PMfBgwf18MMPq2fPntq5c6dSUlL05ZdfasSIESV/kABQQohZAHCzJ598Ul9++aWOHj2qo0eP6t///reefPJJ+/acnBzNmjVLf/zjH9WpUyc1btxYH3zwgfz9/TVnzhxJ0qxZs1S3bl1NnTpVDRo00BNPPOF0vW1iYqKeeOIJjRkzRvXr11fbtm01bdo0/eUvf9HPP/9cmocMAMXGy90LAIDfusqVK6tz586aP3++LMtS586dFRwcbN9+8OBBXbp0Sffcc499zNvbW61bt9bevXslSXv37lVERITD80ZGRjr8/O2332rnzp1KTk62j1mWpfz8fB0+fFiNGjUqicMDgBJFzALALWDQoEH2j/tnzJhRIq9x7tw5/f73v9eoUaOctvFlMwCmImYB4Bbw8MMP6+LFi7LZbIqOjnbYVrduXfn4+Ojf//63atWqJUm6dOmStmzZojFjxkiSGjVqpJUrVzrs9/XXXzv83Lx5c+3Zs0f16tUruQMBgFLGNbMAcAvw9PTU3r17tWfPHnl6ejpsK1u2rIYNG6YXX3xRa9as0Z49ezRkyBCdP39egwcPliQ988wz+v777/Xiiy9q3759WrhwoebPn+/wPGPHjtVXX32lESNGKC0tTd9//70+/fRTvgAGwGjELADcIgICAhQQEFDgtilTpqhnz5566qmn1Lx5cx04cEBr165VUFCQpCuXCSxbtkwrVqxQeHi4Zs+erTfeeMPhOZo0aaJ//vOf2r9/v9q3b69mzZppwoQJql69eokfGwCUFJtlWZa7FwEAAADcCM7MAgAAwFjELAAAAIxFzAIAAMBYxCwAAACMRcwCAADAWMQsAAAAjEXMAgAAwFjELAAAAIxFzAIAAMBYxCwAAACMRcwCAADAWP8Pniw28lt/r9g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661" y="3082610"/>
            <a:ext cx="7089366" cy="5611987"/>
          </a:xfrm>
          <a:prstGeom prst="rect">
            <a:avLst/>
          </a:prstGeom>
        </p:spPr>
      </p:pic>
      <p:sp>
        <p:nvSpPr>
          <p:cNvPr id="18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10577446" y="9144708"/>
            <a:ext cx="556779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5">
                    <a:lumMod val="75000"/>
                  </a:schemeClr>
                </a:solidFill>
                <a:latin typeface="Montserrat" panose="020B0604020202020204" charset="0"/>
              </a:rPr>
              <a:t>Fig-08: </a:t>
            </a:r>
            <a:r>
              <a:rPr lang="en-US" sz="2000" dirty="0" err="1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20B0604020202020204" charset="0"/>
              </a:rPr>
              <a:t>XGBoost</a:t>
            </a:r>
            <a:r>
              <a:rPr lang="en-US" sz="2000" dirty="0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20B0604020202020204" charset="0"/>
              </a:rPr>
              <a:t> vs </a:t>
            </a:r>
            <a:r>
              <a:rPr lang="en-US" sz="2000" dirty="0" err="1" smtClean="0">
                <a:ln w="0"/>
                <a:solidFill>
                  <a:schemeClr val="accent5">
                    <a:lumMod val="75000"/>
                  </a:schemeClr>
                </a:solidFill>
                <a:latin typeface="Montserrat" panose="020B0604020202020204" charset="0"/>
              </a:rPr>
              <a:t>LightGBM</a:t>
            </a:r>
            <a:endParaRPr lang="en-US" sz="2000" dirty="0">
              <a:ln w="0"/>
              <a:solidFill>
                <a:schemeClr val="accent5">
                  <a:lumMod val="75000"/>
                </a:schemeClr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87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FD3F-4538-10E4-65A1-669147EA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D3B29B9-214F-7A96-A22B-2B7790F1B3A8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719B72B-B0FC-875F-E21A-8CDBD89C7B3C}"/>
              </a:ext>
            </a:extLst>
          </p:cNvPr>
          <p:cNvSpPr txBox="1"/>
          <p:nvPr/>
        </p:nvSpPr>
        <p:spPr>
          <a:xfrm>
            <a:off x="1600200" y="1128030"/>
            <a:ext cx="11201400" cy="1533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and Learning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D7C029B0-C4DC-AE2A-1224-CB7C85A3D137}"/>
              </a:ext>
            </a:extLst>
          </p:cNvPr>
          <p:cNvSpPr/>
          <p:nvPr/>
        </p:nvSpPr>
        <p:spPr>
          <a:xfrm rot="887923">
            <a:off x="-5959915" y="498262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1205E-84FF-5383-23E8-6A759B0F4701}"/>
              </a:ext>
            </a:extLst>
          </p:cNvPr>
          <p:cNvSpPr txBox="1"/>
          <p:nvPr/>
        </p:nvSpPr>
        <p:spPr>
          <a:xfrm>
            <a:off x="2895600" y="3848100"/>
            <a:ext cx="5675192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kern="0" dirty="0" smtClean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lang="en-US" sz="2800" kern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kern="0" dirty="0" smtClean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issing </a:t>
            </a:r>
            <a:r>
              <a:rPr lang="en-US" sz="2800" kern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kern="0" dirty="0" smtClean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alue</a:t>
            </a: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kern="0" dirty="0" smtClean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Data</a:t>
            </a: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</a:p>
          <a:p>
            <a:pPr marL="636905" lvl="1" indent="-457200">
              <a:lnSpc>
                <a:spcPct val="150000"/>
              </a:lnSpc>
              <a:buFont typeface="+mj-lt"/>
              <a:buAutoNum type="arabicPeriod"/>
              <a:tabLst>
                <a:tab pos="7315200" algn="l"/>
              </a:tabLst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Model</a:t>
            </a:r>
          </a:p>
        </p:txBody>
      </p:sp>
      <p:pic>
        <p:nvPicPr>
          <p:cNvPr id="9" name="Picture 8" descr="Logo&#10;&#10;Description automatically generated with medium confidence">
            <a:extLst>
              <a:ext uri="{FF2B5EF4-FFF2-40B4-BE49-F238E27FC236}">
                <a16:creationId xmlns:a16="http://schemas.microsoft.com/office/drawing/2014/main" id="{E821F5FA-C068-2071-6D04-6A7F978FE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1708761-0108-51E6-AC8C-3BD68D779BAD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ooter Placeholder 28">
            <a:extLst>
              <a:ext uri="{FF2B5EF4-FFF2-40B4-BE49-F238E27FC236}">
                <a16:creationId xmlns:a16="http://schemas.microsoft.com/office/drawing/2014/main" id="{3F33AFD7-30C1-282B-48AF-766DEFC7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15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10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13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D85E-0FB1-7C9A-E873-59D794FF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0838B5E-107A-4E50-85AD-6CA4691107AE}"/>
              </a:ext>
            </a:extLst>
          </p:cNvPr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9ED1EF6-D21D-284E-1BEF-8D6107EAD65F}"/>
              </a:ext>
            </a:extLst>
          </p:cNvPr>
          <p:cNvSpPr txBox="1"/>
          <p:nvPr/>
        </p:nvSpPr>
        <p:spPr>
          <a:xfrm>
            <a:off x="1538888" y="1195362"/>
            <a:ext cx="8904094" cy="159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spc="924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4B351398-CC60-E444-4564-F5677DDDAB8B}"/>
              </a:ext>
            </a:extLst>
          </p:cNvPr>
          <p:cNvSpPr/>
          <p:nvPr/>
        </p:nvSpPr>
        <p:spPr>
          <a:xfrm rot="887923">
            <a:off x="-5959915" y="498262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7A968-DA39-C380-D8D0-6BEF8287F784}"/>
              </a:ext>
            </a:extLst>
          </p:cNvPr>
          <p:cNvSpPr txBox="1"/>
          <p:nvPr/>
        </p:nvSpPr>
        <p:spPr>
          <a:xfrm>
            <a:off x="3048000" y="3035488"/>
            <a:ext cx="12573000" cy="2507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9705" lvl="1">
              <a:lnSpc>
                <a:spcPct val="150000"/>
              </a:lnSpc>
              <a:tabLst>
                <a:tab pos="7315200" algn="l"/>
              </a:tabLst>
              <a:defRPr/>
            </a:pP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my transition to web design and data analysis has allowed me to apply theoretical knowledge to practical projects, enhancing my technical and collaborative skills. This experience has built a strong foundation for a dynamic and innovative career in technology.</a:t>
            </a:r>
          </a:p>
        </p:txBody>
      </p:sp>
      <p:pic>
        <p:nvPicPr>
          <p:cNvPr id="27" name="Picture 26" descr="Logo&#10;&#10;Description automatically generated with medium confidence">
            <a:extLst>
              <a:ext uri="{FF2B5EF4-FFF2-40B4-BE49-F238E27FC236}">
                <a16:creationId xmlns:a16="http://schemas.microsoft.com/office/drawing/2014/main" id="{46CA3A06-6CC3-9EF6-3E00-AABEFDA47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7347" y="476682"/>
            <a:ext cx="1331658" cy="133165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662D47A-0DB0-C96D-F548-E5BCA86AE46E}"/>
              </a:ext>
            </a:extLst>
          </p:cNvPr>
          <p:cNvSpPr/>
          <p:nvPr/>
        </p:nvSpPr>
        <p:spPr>
          <a:xfrm>
            <a:off x="17133051" y="9764598"/>
            <a:ext cx="548640" cy="5486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ooter Placeholder 28">
            <a:extLst>
              <a:ext uri="{FF2B5EF4-FFF2-40B4-BE49-F238E27FC236}">
                <a16:creationId xmlns:a16="http://schemas.microsoft.com/office/drawing/2014/main" id="{3F41EAAF-C24A-7E36-54B3-93EC5ED6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06027" y="9590875"/>
            <a:ext cx="1002688" cy="896085"/>
          </a:xfrm>
        </p:spPr>
        <p:txBody>
          <a:bodyPr/>
          <a:lstStyle/>
          <a:p>
            <a:fld id="{90899103-AC92-4915-888A-FA53B78D728F}" type="slidenum">
              <a:rPr lang="en-US" sz="4000" smtClean="0">
                <a:solidFill>
                  <a:schemeClr val="tx1"/>
                </a:solidFill>
              </a:rPr>
              <a:t>16</a:t>
            </a:fld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10" name="Picture 4" descr="Home - NextTech Limited || A Largest Training Institute in Bangladesh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587" y="621288"/>
            <a:ext cx="2552712" cy="8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60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176AE-C26C-CF60-0663-74AB8964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4340" name="Picture 4" descr="Any Questions Vector Images (95)">
            <a:extLst>
              <a:ext uri="{FF2B5EF4-FFF2-40B4-BE49-F238E27FC236}">
                <a16:creationId xmlns:a16="http://schemas.microsoft.com/office/drawing/2014/main" id="{49F73FAE-8DDD-0A26-35A7-396ED3CAC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597011"/>
            <a:ext cx="6653213" cy="709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92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randomBar dir="vert"/>
      </p:transition>
    </mc:Choice>
    <mc:Fallback xmlns="">
      <p:transition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2154</TotalTime>
  <Words>335</Words>
  <Application>Microsoft Office PowerPoint</Application>
  <PresentationFormat>Custom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Oswald Bold Italics</vt:lpstr>
      <vt:lpstr>Arial</vt:lpstr>
      <vt:lpstr>Calibri</vt:lpstr>
      <vt:lpstr>Oswald Bold</vt:lpstr>
      <vt:lpstr>Times New Roman</vt:lpstr>
      <vt:lpstr>DM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business project presentation</dc:title>
  <dc:creator>tanbin ahmed</dc:creator>
  <cp:lastModifiedBy>hp</cp:lastModifiedBy>
  <cp:revision>61</cp:revision>
  <dcterms:created xsi:type="dcterms:W3CDTF">2006-08-16T00:00:00Z</dcterms:created>
  <dcterms:modified xsi:type="dcterms:W3CDTF">2025-07-30T16:25:40Z</dcterms:modified>
  <dc:identifier>DAF-tOrW3ms</dc:identifier>
</cp:coreProperties>
</file>